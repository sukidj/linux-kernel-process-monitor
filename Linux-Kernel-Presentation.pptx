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9" r:id="rId13"/>
    <p:sldId id="270" r:id="rId14"/>
    <p:sldId id="266" r:id="rId15"/>
    <p:sldId id="271" r:id="rId16"/>
    <p:sldId id="267" r:id="rId17"/>
  </p:sldIdLst>
  <p:sldSz cx="18288000" cy="10287000"/>
  <p:notesSz cx="6858000" cy="9144000"/>
  <p:embeddedFontLst>
    <p:embeddedFont>
      <p:font typeface="Garet" panose="020B0604020202020204" charset="0"/>
      <p:regular r:id="rId18"/>
    </p:embeddedFont>
    <p:embeddedFont>
      <p:font typeface="Garet Bold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4622" autoAdjust="0"/>
  </p:normalViewPr>
  <p:slideViewPr>
    <p:cSldViewPr>
      <p:cViewPr>
        <p:scale>
          <a:sx n="66" d="100"/>
          <a:sy n="66" d="100"/>
        </p:scale>
        <p:origin x="1254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02/20/2026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4.svg"/><Relationship Id="rId7" Type="http://schemas.openxmlformats.org/officeDocument/2006/relationships/image" Target="../media/image9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1.svg"/><Relationship Id="rId7" Type="http://schemas.openxmlformats.org/officeDocument/2006/relationships/image" Target="../media/image7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microsoft.com/office/2007/relationships/hdphoto" Target="../media/hdphoto1.wdp"/><Relationship Id="rId5" Type="http://schemas.openxmlformats.org/officeDocument/2006/relationships/image" Target="../media/image4.svg"/><Relationship Id="rId10" Type="http://schemas.openxmlformats.org/officeDocument/2006/relationships/image" Target="../media/image5.png"/><Relationship Id="rId4" Type="http://schemas.openxmlformats.org/officeDocument/2006/relationships/image" Target="../media/image3.png"/><Relationship Id="rId9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4.svg"/><Relationship Id="rId7" Type="http://schemas.openxmlformats.org/officeDocument/2006/relationships/image" Target="../media/image16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4.svg"/><Relationship Id="rId7" Type="http://schemas.openxmlformats.org/officeDocument/2006/relationships/image" Target="../media/image20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4.svg"/><Relationship Id="rId7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2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microsoft.com/office/2007/relationships/hdphoto" Target="../media/hdphoto4.wdp"/><Relationship Id="rId3" Type="http://schemas.openxmlformats.org/officeDocument/2006/relationships/image" Target="../media/image4.svg"/><Relationship Id="rId7" Type="http://schemas.microsoft.com/office/2007/relationships/hdphoto" Target="../media/hdphoto1.wdp"/><Relationship Id="rId12" Type="http://schemas.openxmlformats.org/officeDocument/2006/relationships/image" Target="../media/image2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microsoft.com/office/2007/relationships/hdphoto" Target="../media/hdphoto3.wdp"/><Relationship Id="rId5" Type="http://schemas.openxmlformats.org/officeDocument/2006/relationships/image" Target="../media/image7.svg"/><Relationship Id="rId10" Type="http://schemas.openxmlformats.org/officeDocument/2006/relationships/image" Target="../media/image24.png"/><Relationship Id="rId4" Type="http://schemas.openxmlformats.org/officeDocument/2006/relationships/image" Target="../media/image6.png"/><Relationship Id="rId9" Type="http://schemas.microsoft.com/office/2007/relationships/hdphoto" Target="../media/hdphoto2.wdp"/><Relationship Id="rId14" Type="http://schemas.openxmlformats.org/officeDocument/2006/relationships/hyperlink" Target="https://github.com/SukiDj/Linux-Kernel-Process-Monitor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28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jpe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30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jpe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jpeg"/><Relationship Id="rId3" Type="http://schemas.openxmlformats.org/officeDocument/2006/relationships/image" Target="../media/image4.svg"/><Relationship Id="rId7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965300" y="-84714"/>
            <a:ext cx="10371714" cy="10371714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9FCDFF">
                    <a:alpha val="0"/>
                  </a:srgbClr>
                </a:gs>
                <a:gs pos="100000">
                  <a:srgbClr val="3964CD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1076817" y="898757"/>
            <a:ext cx="6372983" cy="8896297"/>
          </a:xfrm>
          <a:custGeom>
            <a:avLst/>
            <a:gdLst/>
            <a:ahLst/>
            <a:cxnLst/>
            <a:rect l="l" t="t" r="r" b="b"/>
            <a:pathLst>
              <a:path w="6372983" h="8896297">
                <a:moveTo>
                  <a:pt x="0" y="0"/>
                </a:moveTo>
                <a:lnTo>
                  <a:pt x="6372983" y="0"/>
                </a:lnTo>
                <a:lnTo>
                  <a:pt x="6372983" y="8896297"/>
                </a:lnTo>
                <a:lnTo>
                  <a:pt x="0" y="88962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 rot="10407285">
            <a:off x="-5710435" y="-188170"/>
            <a:ext cx="10371714" cy="10371714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9FCDFF">
                    <a:alpha val="0"/>
                  </a:srgbClr>
                </a:gs>
                <a:gs pos="100000">
                  <a:srgbClr val="3964CD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6940833" y="4782676"/>
            <a:ext cx="636934" cy="636934"/>
          </a:xfrm>
          <a:custGeom>
            <a:avLst/>
            <a:gdLst/>
            <a:ahLst/>
            <a:cxnLst/>
            <a:rect l="l" t="t" r="r" b="b"/>
            <a:pathLst>
              <a:path w="636934" h="636934">
                <a:moveTo>
                  <a:pt x="0" y="0"/>
                </a:moveTo>
                <a:lnTo>
                  <a:pt x="636934" y="0"/>
                </a:lnTo>
                <a:lnTo>
                  <a:pt x="636934" y="636934"/>
                </a:lnTo>
                <a:lnTo>
                  <a:pt x="0" y="6369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TextBox 12"/>
          <p:cNvSpPr txBox="1"/>
          <p:nvPr/>
        </p:nvSpPr>
        <p:spPr>
          <a:xfrm>
            <a:off x="838200" y="2565127"/>
            <a:ext cx="10237895" cy="26545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sz="6000" b="1" spc="-475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Modifikacija</a:t>
            </a:r>
            <a:r>
              <a:rPr lang="en-US" sz="6000" b="1" spc="-475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i rebuild-</a:t>
            </a:r>
            <a:r>
              <a:rPr lang="en-US" sz="6000" b="1" spc="-475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ovanje</a:t>
            </a:r>
            <a:r>
              <a:rPr lang="en-US" sz="6000" b="1" spc="-475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Linux kernela</a:t>
            </a:r>
            <a:r>
              <a:rPr lang="sr-Latn-RS" sz="6000" b="1" spc="-475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(v6.18.9)</a:t>
            </a:r>
            <a:endParaRPr lang="en-US" sz="6000" b="1" spc="-475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37478" y="5621622"/>
            <a:ext cx="7690481" cy="1579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469"/>
              </a:lnSpc>
              <a:spcBef>
                <a:spcPct val="0"/>
              </a:spcBef>
            </a:pPr>
            <a:r>
              <a:rPr lang="en-US" sz="4400" spc="-475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Projekat</a:t>
            </a:r>
            <a:r>
              <a:rPr lang="en-US" sz="4400" spc="-475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sr-Latn-RS" sz="4400" spc="-475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4400" spc="-475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1 - 2025/26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83433" y="927215"/>
            <a:ext cx="4696002" cy="4438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51"/>
              </a:lnSpc>
              <a:spcBef>
                <a:spcPct val="0"/>
              </a:spcBef>
            </a:pPr>
            <a:r>
              <a:rPr lang="en-US" sz="2536" spc="-116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Elektronski</a:t>
            </a:r>
            <a:r>
              <a:rPr lang="en-US" sz="2536" spc="-116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536" spc="-116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fakultet</a:t>
            </a:r>
            <a:r>
              <a:rPr lang="en-US" sz="2536" spc="-116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u Ni</a:t>
            </a:r>
            <a:r>
              <a:rPr lang="sr-Latn-RS" sz="2536" spc="-116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šu</a:t>
            </a:r>
            <a:endParaRPr lang="en-US" sz="2536" spc="-116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837478" y="8711869"/>
            <a:ext cx="4132080" cy="7554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1"/>
              </a:lnSpc>
              <a:spcBef>
                <a:spcPct val="0"/>
              </a:spcBef>
            </a:pPr>
            <a:r>
              <a:rPr lang="sr-Latn-RS" sz="2136" b="1" spc="-98" dirty="0">
                <a:solidFill>
                  <a:schemeClr val="bg1"/>
                </a:solidFill>
                <a:latin typeface="Garet Bold"/>
                <a:ea typeface="Garet Bold"/>
                <a:cs typeface="Garet Bold"/>
                <a:sym typeface="Garet Bold"/>
              </a:rPr>
              <a:t>Napredni operativni sistemi</a:t>
            </a:r>
          </a:p>
          <a:p>
            <a:pPr algn="l">
              <a:lnSpc>
                <a:spcPts val="2991"/>
              </a:lnSpc>
              <a:spcBef>
                <a:spcPct val="0"/>
              </a:spcBef>
            </a:pPr>
            <a:r>
              <a:rPr lang="sr-Latn-RS" sz="2136" b="1" spc="-98" dirty="0">
                <a:solidFill>
                  <a:schemeClr val="bg1"/>
                </a:solidFill>
                <a:latin typeface="Garet Bold"/>
                <a:ea typeface="Garet Bold"/>
                <a:cs typeface="Garet Bold"/>
                <a:sym typeface="Garet Bold"/>
              </a:rPr>
              <a:t>Đorđević Aleksandar 2147</a:t>
            </a:r>
            <a:endParaRPr lang="en-US" sz="2136" b="1" spc="-98" dirty="0">
              <a:solidFill>
                <a:schemeClr val="bg1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8B950A6-92E3-E9FB-4D78-35A023E1BAA2}"/>
              </a:ext>
            </a:extLst>
          </p:cNvPr>
          <p:cNvPicPr>
            <a:picLocks/>
          </p:cNvPicPr>
          <p:nvPr/>
        </p:nvPicPr>
        <p:blipFill>
          <a:blip r:embed="rId6" cstate="print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791" y="819668"/>
            <a:ext cx="682716" cy="66348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784291" y="456188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1104900" y="2621180"/>
            <a:ext cx="4017831" cy="701294"/>
          </a:xfrm>
          <a:custGeom>
            <a:avLst/>
            <a:gdLst/>
            <a:ahLst/>
            <a:cxnLst/>
            <a:rect l="l" t="t" r="r" b="b"/>
            <a:pathLst>
              <a:path w="4017831" h="701294">
                <a:moveTo>
                  <a:pt x="0" y="0"/>
                </a:moveTo>
                <a:lnTo>
                  <a:pt x="4017831" y="0"/>
                </a:lnTo>
                <a:lnTo>
                  <a:pt x="4017831" y="701294"/>
                </a:lnTo>
                <a:lnTo>
                  <a:pt x="0" y="7012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5250385" y="7709520"/>
            <a:ext cx="4017831" cy="701294"/>
          </a:xfrm>
          <a:custGeom>
            <a:avLst/>
            <a:gdLst/>
            <a:ahLst/>
            <a:cxnLst/>
            <a:rect l="l" t="t" r="r" b="b"/>
            <a:pathLst>
              <a:path w="4017831" h="701294">
                <a:moveTo>
                  <a:pt x="0" y="0"/>
                </a:moveTo>
                <a:lnTo>
                  <a:pt x="4017830" y="0"/>
                </a:lnTo>
                <a:lnTo>
                  <a:pt x="4017830" y="701294"/>
                </a:lnTo>
                <a:lnTo>
                  <a:pt x="0" y="7012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4219233" y="1410919"/>
            <a:ext cx="4444454" cy="2230308"/>
          </a:xfrm>
          <a:custGeom>
            <a:avLst/>
            <a:gdLst/>
            <a:ahLst/>
            <a:cxnLst/>
            <a:rect l="l" t="t" r="r" b="b"/>
            <a:pathLst>
              <a:path w="4444454" h="2230308">
                <a:moveTo>
                  <a:pt x="0" y="0"/>
                </a:moveTo>
                <a:lnTo>
                  <a:pt x="4444454" y="0"/>
                </a:lnTo>
                <a:lnTo>
                  <a:pt x="4444454" y="2230308"/>
                </a:lnTo>
                <a:lnTo>
                  <a:pt x="0" y="22303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6070360" y="8863664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87"/>
              </a:lnSpc>
              <a:spcBef>
                <a:spcPct val="0"/>
              </a:spcBef>
            </a:pPr>
            <a:r>
              <a:rPr lang="en-US" sz="1777" spc="-81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002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918985" y="1514936"/>
            <a:ext cx="4626067" cy="1065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03"/>
              </a:lnSpc>
              <a:spcBef>
                <a:spcPct val="0"/>
              </a:spcBef>
            </a:pPr>
            <a:r>
              <a:rPr lang="en-US" sz="6217" spc="-285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Cilj</a:t>
            </a:r>
            <a:r>
              <a:rPr lang="en-US" sz="6217" spc="-285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i </a:t>
            </a:r>
            <a:r>
              <a:rPr lang="en-US" sz="6217" spc="-285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zahtevi</a:t>
            </a:r>
            <a:endParaRPr lang="en-US" sz="6217" spc="-285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6742948" y="2281812"/>
            <a:ext cx="4626067" cy="1065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03"/>
              </a:lnSpc>
              <a:spcBef>
                <a:spcPct val="0"/>
              </a:spcBef>
            </a:pPr>
            <a:r>
              <a:rPr lang="en-US" sz="6217" b="1" spc="-285" dirty="0" err="1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projekta</a:t>
            </a:r>
            <a:endParaRPr lang="en-US" sz="6217" b="1" spc="-285" dirty="0">
              <a:solidFill>
                <a:srgbClr val="EBF5FE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66800" y="4542613"/>
            <a:ext cx="6705600" cy="3447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Glavni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cilj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  <a:endParaRPr lang="sr-Latn-RS" sz="2800" b="1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Implementacija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mehanizma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za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identifikaciju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svih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aktivnih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koji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koriste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specifičnu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datoteku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Zahtevi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  <a:endParaRPr lang="sr-Latn-RS" sz="2800" b="1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Modifikacija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izvornog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koda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Linux kernela 6.18.9.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9144000" y="4542115"/>
            <a:ext cx="6926360" cy="3877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Implementacija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funkcionalnosti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dva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načina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971550" lvl="1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Novi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sistemski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poziv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(System Call) —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integralni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deo kernela.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971550" lvl="1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Kernel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modul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(LKM) —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dinamičko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proširenje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jezgra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Izlaz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Detaljan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izveštaj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iz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task_struct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(PID, PPID, UID,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memorija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vreme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izvršenja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niti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).</a:t>
            </a:r>
          </a:p>
        </p:txBody>
      </p:sp>
      <p:sp>
        <p:nvSpPr>
          <p:cNvPr id="11" name="Freeform 11"/>
          <p:cNvSpPr/>
          <p:nvPr/>
        </p:nvSpPr>
        <p:spPr>
          <a:xfrm flipH="1">
            <a:off x="-495207" y="1410919"/>
            <a:ext cx="4444454" cy="2230308"/>
          </a:xfrm>
          <a:custGeom>
            <a:avLst/>
            <a:gdLst/>
            <a:ahLst/>
            <a:cxnLst/>
            <a:rect l="l" t="t" r="r" b="b"/>
            <a:pathLst>
              <a:path w="4444454" h="2230308">
                <a:moveTo>
                  <a:pt x="4444454" y="0"/>
                </a:moveTo>
                <a:lnTo>
                  <a:pt x="0" y="0"/>
                </a:lnTo>
                <a:lnTo>
                  <a:pt x="0" y="2230308"/>
                </a:lnTo>
                <a:lnTo>
                  <a:pt x="4444454" y="2230308"/>
                </a:lnTo>
                <a:lnTo>
                  <a:pt x="4444454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A7BA757-E6AE-889C-F5EA-90D4110CA018}"/>
              </a:ext>
            </a:extLst>
          </p:cNvPr>
          <p:cNvPicPr>
            <a:picLocks/>
          </p:cNvPicPr>
          <p:nvPr/>
        </p:nvPicPr>
        <p:blipFill>
          <a:blip r:embed="rId8" cstate="print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1607" y="246373"/>
            <a:ext cx="924786" cy="8946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2668250" y="2628900"/>
            <a:ext cx="5467350" cy="7246191"/>
          </a:xfrm>
          <a:custGeom>
            <a:avLst/>
            <a:gdLst/>
            <a:ahLst/>
            <a:cxnLst/>
            <a:rect l="l" t="t" r="r" b="b"/>
            <a:pathLst>
              <a:path w="7039565" h="8983203">
                <a:moveTo>
                  <a:pt x="0" y="0"/>
                </a:moveTo>
                <a:lnTo>
                  <a:pt x="7039565" y="0"/>
                </a:lnTo>
                <a:lnTo>
                  <a:pt x="7039565" y="8983203"/>
                </a:lnTo>
                <a:lnTo>
                  <a:pt x="0" y="89832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784291" y="901942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-1104900" y="2621180"/>
            <a:ext cx="4017831" cy="701294"/>
          </a:xfrm>
          <a:custGeom>
            <a:avLst/>
            <a:gdLst/>
            <a:ahLst/>
            <a:cxnLst/>
            <a:rect l="l" t="t" r="r" b="b"/>
            <a:pathLst>
              <a:path w="4017831" h="701294">
                <a:moveTo>
                  <a:pt x="0" y="0"/>
                </a:moveTo>
                <a:lnTo>
                  <a:pt x="4017831" y="0"/>
                </a:lnTo>
                <a:lnTo>
                  <a:pt x="4017831" y="701294"/>
                </a:lnTo>
                <a:lnTo>
                  <a:pt x="0" y="70129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8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5925766" y="5871473"/>
            <a:ext cx="2667067" cy="1450478"/>
          </a:xfrm>
          <a:custGeom>
            <a:avLst/>
            <a:gdLst/>
            <a:ahLst/>
            <a:cxnLst/>
            <a:rect l="l" t="t" r="r" b="b"/>
            <a:pathLst>
              <a:path w="3434020" h="1798178">
                <a:moveTo>
                  <a:pt x="0" y="0"/>
                </a:moveTo>
                <a:lnTo>
                  <a:pt x="3434020" y="0"/>
                </a:lnTo>
                <a:lnTo>
                  <a:pt x="3434020" y="1798178"/>
                </a:lnTo>
                <a:lnTo>
                  <a:pt x="0" y="179817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6070360" y="8863664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87"/>
              </a:lnSpc>
              <a:spcBef>
                <a:spcPct val="0"/>
              </a:spcBef>
            </a:pPr>
            <a:r>
              <a:rPr lang="en-US" sz="1777" spc="-81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003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" y="1485900"/>
            <a:ext cx="9093380" cy="1258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74"/>
              </a:lnSpc>
              <a:spcBef>
                <a:spcPct val="0"/>
              </a:spcBef>
            </a:pPr>
            <a:r>
              <a:rPr lang="en-US" sz="6220" spc="-347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Teorijska</a:t>
            </a:r>
            <a:r>
              <a:rPr lang="en-US" sz="6220" spc="-347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6220" spc="-347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osnova</a:t>
            </a:r>
            <a:r>
              <a:rPr lang="en-US" sz="6220" spc="-347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14400" y="2524997"/>
            <a:ext cx="10998380" cy="1258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74"/>
              </a:lnSpc>
              <a:spcBef>
                <a:spcPct val="0"/>
              </a:spcBef>
            </a:pPr>
            <a:r>
              <a:rPr lang="en-US" sz="6220" b="1" spc="-347" dirty="0" err="1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Upravljanje</a:t>
            </a:r>
            <a:r>
              <a:rPr lang="en-US" sz="6220" b="1" spc="-347" dirty="0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 </a:t>
            </a:r>
            <a:r>
              <a:rPr lang="en-US" sz="6220" b="1" spc="-347" dirty="0" err="1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procesima</a:t>
            </a:r>
            <a:endParaRPr lang="en-US" sz="6220" b="1" spc="-347" dirty="0">
              <a:solidFill>
                <a:srgbClr val="EBF5FE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3" name="Freeform 13"/>
          <p:cNvSpPr/>
          <p:nvPr/>
        </p:nvSpPr>
        <p:spPr>
          <a:xfrm>
            <a:off x="13411133" y="2552700"/>
            <a:ext cx="2667067" cy="1450478"/>
          </a:xfrm>
          <a:custGeom>
            <a:avLst/>
            <a:gdLst/>
            <a:ahLst/>
            <a:cxnLst/>
            <a:rect l="l" t="t" r="r" b="b"/>
            <a:pathLst>
              <a:path w="3434020" h="1798178">
                <a:moveTo>
                  <a:pt x="0" y="0"/>
                </a:moveTo>
                <a:lnTo>
                  <a:pt x="3434020" y="0"/>
                </a:lnTo>
                <a:lnTo>
                  <a:pt x="3434020" y="1798178"/>
                </a:lnTo>
                <a:lnTo>
                  <a:pt x="0" y="179817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4" name="TextBox 14"/>
          <p:cNvSpPr txBox="1"/>
          <p:nvPr/>
        </p:nvSpPr>
        <p:spPr>
          <a:xfrm>
            <a:off x="914399" y="4366141"/>
            <a:ext cx="11296617" cy="5170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b="1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task_struct</a:t>
            </a:r>
            <a:r>
              <a:rPr lang="en-US" sz="2800" b="1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endParaRPr lang="sr-Latn-RS" sz="2800" i="1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Osnovna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jedinica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u Linux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kernelu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 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Svaki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predstavljen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ovom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strukturom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(process descriptor).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Lista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procesa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endParaRPr lang="sr-Latn-RS" sz="2800" b="1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Svi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deskriptori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čuvaju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se u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kružnoj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dvostruko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povezanoj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listi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Korišćena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polja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za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analizu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  <a:endParaRPr lang="sr-Latn-RS" sz="2800" b="1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pid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i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real_parent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-&gt;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pid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hijerarhija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).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cred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(UID i GID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vlasnika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).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utime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i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stime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akumulirano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CPU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vreme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u user i kernel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režimu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).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mm_struct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informacije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o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rezidentnoj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memoriji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— RSS).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77F5ACF-85D7-5CFE-2A47-DD9A2B6F642A}"/>
              </a:ext>
            </a:extLst>
          </p:cNvPr>
          <p:cNvPicPr>
            <a:picLocks/>
          </p:cNvPicPr>
          <p:nvPr/>
        </p:nvPicPr>
        <p:blipFill>
          <a:blip r:embed="rId10" cstate="print">
            <a:grayscl/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0517729">
            <a:off x="-2903692" y="-84714"/>
            <a:ext cx="10371714" cy="10371714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9FCDFF">
                    <a:alpha val="0"/>
                  </a:srgbClr>
                </a:gs>
                <a:gs pos="100000">
                  <a:srgbClr val="3964CD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6784291" y="901942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TextBox 12"/>
          <p:cNvSpPr txBox="1"/>
          <p:nvPr/>
        </p:nvSpPr>
        <p:spPr>
          <a:xfrm>
            <a:off x="16070360" y="8863664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87"/>
              </a:lnSpc>
              <a:spcBef>
                <a:spcPct val="0"/>
              </a:spcBef>
            </a:pPr>
            <a:r>
              <a:rPr lang="en-US" sz="1777" spc="-81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004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904868" y="1503281"/>
            <a:ext cx="11573467" cy="1258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74"/>
              </a:lnSpc>
              <a:spcBef>
                <a:spcPct val="0"/>
              </a:spcBef>
            </a:pPr>
            <a:r>
              <a:rPr lang="en-US" sz="6220" spc="-347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Veza </a:t>
            </a:r>
            <a:r>
              <a:rPr lang="en-US" sz="6220" spc="-347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procesa</a:t>
            </a:r>
            <a:r>
              <a:rPr lang="en-US" sz="6220" spc="-347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i </a:t>
            </a:r>
            <a:r>
              <a:rPr lang="en-US" sz="6220" spc="-347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datoteka</a:t>
            </a:r>
            <a:endParaRPr lang="en-US" sz="6220" spc="-347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83096" y="2360694"/>
            <a:ext cx="9376203" cy="1258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74"/>
              </a:lnSpc>
              <a:spcBef>
                <a:spcPct val="0"/>
              </a:spcBef>
            </a:pPr>
            <a:r>
              <a:rPr lang="en-US" sz="6220" b="1" spc="-347" dirty="0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(Files &amp; </a:t>
            </a:r>
            <a:r>
              <a:rPr lang="en-US" sz="6220" b="1" spc="-347" dirty="0" err="1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Inodes</a:t>
            </a:r>
            <a:r>
              <a:rPr lang="en-US" sz="6220" b="1" spc="-347" dirty="0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875880" y="4125719"/>
            <a:ext cx="9129662" cy="5170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Deskriptori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datoteka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endParaRPr lang="sr-Latn-RS" sz="2800" b="1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Svaki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ima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polje files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pokazuje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tabelu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otvorenih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deskriptora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fdtable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).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Putanja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do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datoteke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endParaRPr lang="sr-Latn-RS" sz="2800" b="1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Za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potrebe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projekta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vrši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se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pretraga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po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putanji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ali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se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identifikacija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oslanja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Inode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broj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Zašto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Inode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? </a:t>
            </a:r>
            <a:endParaRPr lang="sr-Latn-RS" sz="2800" b="1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Inode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jedinstveni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identifikator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datoteke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nivou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fajl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sistema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Poređenjem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Inode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-a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ciljane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datoteke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Inode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-ima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svih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otvorenih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fajlova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garantuje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se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preciznost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bez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obzira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simboličke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linkove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ili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različita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imena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istog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fajla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FEFFDA6-E8E8-02DE-10C1-2085D80EBADB}"/>
              </a:ext>
            </a:extLst>
          </p:cNvPr>
          <p:cNvPicPr>
            <a:picLocks/>
          </p:cNvPicPr>
          <p:nvPr/>
        </p:nvPicPr>
        <p:blipFill>
          <a:blip r:embed="rId4" cstate="print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6A46685-4B8B-FECF-9A56-FE0D8D870F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90600" y="2637590"/>
            <a:ext cx="9593260" cy="50118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784291" y="901942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65031" y="2621180"/>
            <a:ext cx="4017831" cy="701294"/>
          </a:xfrm>
          <a:custGeom>
            <a:avLst/>
            <a:gdLst/>
            <a:ahLst/>
            <a:cxnLst/>
            <a:rect l="l" t="t" r="r" b="b"/>
            <a:pathLst>
              <a:path w="4017831" h="701294">
                <a:moveTo>
                  <a:pt x="0" y="0"/>
                </a:moveTo>
                <a:lnTo>
                  <a:pt x="4017831" y="0"/>
                </a:lnTo>
                <a:lnTo>
                  <a:pt x="4017831" y="701294"/>
                </a:lnTo>
                <a:lnTo>
                  <a:pt x="0" y="7012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4020800" y="2095500"/>
            <a:ext cx="4425708" cy="4191000"/>
          </a:xfrm>
          <a:custGeom>
            <a:avLst/>
            <a:gdLst/>
            <a:ahLst/>
            <a:cxnLst/>
            <a:rect l="l" t="t" r="r" b="b"/>
            <a:pathLst>
              <a:path w="5537286" h="6164995">
                <a:moveTo>
                  <a:pt x="0" y="0"/>
                </a:moveTo>
                <a:lnTo>
                  <a:pt x="5537286" y="0"/>
                </a:lnTo>
                <a:lnTo>
                  <a:pt x="5537286" y="6164995"/>
                </a:lnTo>
                <a:lnTo>
                  <a:pt x="0" y="61649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6070360" y="8863664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87"/>
              </a:lnSpc>
              <a:spcBef>
                <a:spcPct val="0"/>
              </a:spcBef>
            </a:pPr>
            <a:r>
              <a:rPr lang="en-US" sz="1777" spc="-81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005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824514" y="901942"/>
            <a:ext cx="10492336" cy="21916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703"/>
              </a:lnSpc>
              <a:spcBef>
                <a:spcPct val="0"/>
              </a:spcBef>
            </a:pPr>
            <a:r>
              <a:rPr lang="en-US" sz="6217" spc="-285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Implementacija</a:t>
            </a:r>
            <a:r>
              <a:rPr lang="en-US" sz="6217" spc="-285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6217" spc="-285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sistemskog</a:t>
            </a:r>
            <a:r>
              <a:rPr lang="en-US" sz="6217" spc="-285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6217" spc="-285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poziva</a:t>
            </a:r>
            <a:endParaRPr lang="en-US" sz="6217" spc="-285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6466530" y="2014578"/>
            <a:ext cx="4626067" cy="1070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703"/>
              </a:lnSpc>
              <a:spcBef>
                <a:spcPct val="0"/>
              </a:spcBef>
            </a:pPr>
            <a:r>
              <a:rPr lang="en-US" sz="6217" b="1" spc="-285" dirty="0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(</a:t>
            </a:r>
            <a:r>
              <a:rPr lang="en-US" sz="6217" b="1" spc="-285" dirty="0" err="1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Syscall</a:t>
            </a:r>
            <a:r>
              <a:rPr lang="en-US" sz="6217" b="1" spc="-285" dirty="0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)</a:t>
            </a:r>
          </a:p>
        </p:txBody>
      </p:sp>
      <p:sp>
        <p:nvSpPr>
          <p:cNvPr id="12" name="Freeform 12"/>
          <p:cNvSpPr/>
          <p:nvPr/>
        </p:nvSpPr>
        <p:spPr>
          <a:xfrm flipH="1">
            <a:off x="-360229" y="4838700"/>
            <a:ext cx="4017829" cy="4343400"/>
          </a:xfrm>
          <a:custGeom>
            <a:avLst/>
            <a:gdLst/>
            <a:ahLst/>
            <a:cxnLst/>
            <a:rect l="l" t="t" r="r" b="b"/>
            <a:pathLst>
              <a:path w="5537286" h="6164995">
                <a:moveTo>
                  <a:pt x="5537286" y="0"/>
                </a:moveTo>
                <a:lnTo>
                  <a:pt x="0" y="0"/>
                </a:lnTo>
                <a:lnTo>
                  <a:pt x="0" y="6164994"/>
                </a:lnTo>
                <a:lnTo>
                  <a:pt x="5537286" y="6164994"/>
                </a:lnTo>
                <a:lnTo>
                  <a:pt x="5537286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3824514" y="3356945"/>
            <a:ext cx="10287000" cy="64633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Registracija: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endParaRPr lang="sr-Latn-RS" sz="2800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Dodavanje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novog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broja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u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tabelu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arch/x86/entry/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syscalls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/syscall_64.tbl.</a:t>
            </a:r>
            <a:endParaRPr lang="sr-Latn-RS" sz="2800" i="1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Deklaracija</a:t>
            </a:r>
            <a:r>
              <a:rPr lang="en-U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endParaRPr lang="sr-Latn-RS" sz="2800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Definisanje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prototipa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funkcije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u</a:t>
            </a:r>
            <a:r>
              <a:rPr lang="sr-Latn-R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include/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linux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/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syscalls.h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  <a:endParaRPr lang="sr-Latn-RS" sz="2800" i="1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Implementacija</a:t>
            </a:r>
            <a:r>
              <a:rPr lang="en-U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koda</a:t>
            </a:r>
            <a:r>
              <a:rPr lang="en-U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endParaRPr lang="sr-Latn-RS" sz="2800" b="1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Kreiran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je novi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fajl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kernel/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file_monitor</a:t>
            </a:r>
            <a:r>
              <a:rPr lang="sr-Latn-R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_sys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.c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  <a:endParaRPr lang="sr-Latn-RS" sz="2800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Korišćeni</a:t>
            </a:r>
            <a:r>
              <a:rPr lang="en-U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makro</a:t>
            </a:r>
            <a:r>
              <a:rPr lang="en-U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endParaRPr lang="sr-Latn-RS" sz="2800" b="1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SYSCALL_DEFINE1(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file_monitor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, const char __user *, filename) </a:t>
            </a:r>
            <a:r>
              <a:rPr lang="sr-Latn-R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-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omogućava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prosleđivanje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putanje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iz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korisničkog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prostora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  <a:endParaRPr lang="sr-Latn-RS" sz="2800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Bezbednost</a:t>
            </a:r>
            <a:r>
              <a:rPr lang="en-U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br>
              <a:rPr lang="sr-Latn-R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</a:b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Upotreba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funkcije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strncpy_from_user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sr-Latn-R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za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sigurno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kopiranje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putanje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iz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memorije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korisnika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u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memoriju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kernela,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čime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se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sprečavaju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"kernel panic"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greške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74C1048-EEB3-E005-6A09-DAA524DE5C83}"/>
              </a:ext>
            </a:extLst>
          </p:cNvPr>
          <p:cNvPicPr>
            <a:picLocks/>
          </p:cNvPicPr>
          <p:nvPr/>
        </p:nvPicPr>
        <p:blipFill>
          <a:blip r:embed="rId8" cstate="print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0517729">
            <a:off x="-2903692" y="-84714"/>
            <a:ext cx="10371714" cy="10371714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9FCDFF">
                    <a:alpha val="0"/>
                  </a:srgbClr>
                </a:gs>
                <a:gs pos="100000">
                  <a:srgbClr val="3964CD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6784291" y="901942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931945" y="3009900"/>
            <a:ext cx="3696124" cy="6313254"/>
          </a:xfrm>
          <a:custGeom>
            <a:avLst/>
            <a:gdLst/>
            <a:ahLst/>
            <a:cxnLst/>
            <a:rect l="l" t="t" r="r" b="b"/>
            <a:pathLst>
              <a:path w="3696124" h="6313254">
                <a:moveTo>
                  <a:pt x="0" y="0"/>
                </a:moveTo>
                <a:lnTo>
                  <a:pt x="3696123" y="0"/>
                </a:lnTo>
                <a:lnTo>
                  <a:pt x="3696123" y="6313254"/>
                </a:lnTo>
                <a:lnTo>
                  <a:pt x="0" y="63132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381000" y="4434756"/>
            <a:ext cx="2827990" cy="4114800"/>
          </a:xfrm>
          <a:custGeom>
            <a:avLst/>
            <a:gdLst/>
            <a:ahLst/>
            <a:cxnLst/>
            <a:rect l="l" t="t" r="r" b="b"/>
            <a:pathLst>
              <a:path w="2827990" h="4114800">
                <a:moveTo>
                  <a:pt x="0" y="0"/>
                </a:moveTo>
                <a:lnTo>
                  <a:pt x="2827990" y="0"/>
                </a:lnTo>
                <a:lnTo>
                  <a:pt x="282799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16070360" y="8863664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87"/>
              </a:lnSpc>
              <a:spcBef>
                <a:spcPct val="0"/>
              </a:spcBef>
            </a:pPr>
            <a:r>
              <a:rPr lang="en-US" sz="1777" spc="-81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006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105400" y="571500"/>
            <a:ext cx="8589421" cy="26181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74"/>
              </a:lnSpc>
              <a:spcBef>
                <a:spcPct val="0"/>
              </a:spcBef>
            </a:pPr>
            <a:r>
              <a:rPr lang="en-US" sz="6220" spc="-347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Implementacija</a:t>
            </a:r>
            <a:r>
              <a:rPr lang="en-US" sz="6220" spc="-347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kernel </a:t>
            </a:r>
            <a:r>
              <a:rPr lang="en-US" sz="6220" spc="-347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modula</a:t>
            </a:r>
            <a:endParaRPr lang="en-US" sz="6220" spc="-347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071952" y="1890903"/>
            <a:ext cx="8002468" cy="1293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74"/>
              </a:lnSpc>
              <a:spcBef>
                <a:spcPct val="0"/>
              </a:spcBef>
            </a:pPr>
            <a:r>
              <a:rPr lang="en-US" sz="6220" b="1" spc="-347" dirty="0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(LKM)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07C575E1-58CC-E839-7EC3-4E7B20A135B0}"/>
              </a:ext>
            </a:extLst>
          </p:cNvPr>
          <p:cNvPicPr>
            <a:picLocks/>
          </p:cNvPicPr>
          <p:nvPr/>
        </p:nvPicPr>
        <p:blipFill>
          <a:blip r:embed="rId8" cstate="print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  <p:sp>
        <p:nvSpPr>
          <p:cNvPr id="60" name="TextBox 13">
            <a:extLst>
              <a:ext uri="{FF2B5EF4-FFF2-40B4-BE49-F238E27FC236}">
                <a16:creationId xmlns:a16="http://schemas.microsoft.com/office/drawing/2014/main" id="{DD9B4D44-983E-5860-FF69-4AC38A3F85D2}"/>
              </a:ext>
            </a:extLst>
          </p:cNvPr>
          <p:cNvSpPr txBox="1"/>
          <p:nvPr/>
        </p:nvSpPr>
        <p:spPr>
          <a:xfrm>
            <a:off x="5105400" y="3506256"/>
            <a:ext cx="10964960" cy="64633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Dinamičko</a:t>
            </a:r>
            <a:r>
              <a:rPr lang="en-U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proširenje</a:t>
            </a:r>
            <a:r>
              <a:rPr lang="en-U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  <a:endParaRPr lang="sr-Latn-RS" sz="2800" b="1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Modul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omogućava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modifikaciju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ponašanja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kernela bez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potrebe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za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ponovnim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kompajliranjem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celog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sistema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i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restartovanjem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(reboot).</a:t>
            </a:r>
            <a:endParaRPr lang="sr-Latn-RS" sz="2800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Parametar</a:t>
            </a:r>
            <a:r>
              <a:rPr lang="en-U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modula</a:t>
            </a:r>
            <a:r>
              <a:rPr lang="en-U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endParaRPr lang="sr-Latn-RS" sz="2800" b="1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Korišćen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module_param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(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target_path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charp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, 0444)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koji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dozvoljava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korisniku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da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pri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učitavanju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modula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definiše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fajl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koji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želi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da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prati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  <a:endParaRPr lang="sr-Latn-RS" sz="2800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sudo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insmod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file_monitor.ko</a:t>
            </a:r>
            <a:r>
              <a:rPr lang="sr-Latn-R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target_path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=</a:t>
            </a:r>
            <a:r>
              <a:rPr lang="sr-Latn-R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„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/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putanja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/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fajla</a:t>
            </a:r>
            <a:r>
              <a:rPr lang="sr-Latn-R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“</a:t>
            </a:r>
          </a:p>
          <a:p>
            <a:pPr>
              <a:spcBef>
                <a:spcPct val="0"/>
              </a:spcBef>
            </a:pPr>
            <a:r>
              <a:rPr lang="en-U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Lifecycle: </a:t>
            </a:r>
            <a:endParaRPr lang="sr-Latn-RS" sz="2800" b="1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Standardne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module_init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i </a:t>
            </a:r>
            <a:r>
              <a:rPr lang="en-US" sz="2800" i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module_exit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funkcije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za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upravljanje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životnim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ciklusom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modula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u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memoriji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  <a:endParaRPr lang="sr-Latn-RS" sz="2800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Makefile</a:t>
            </a:r>
            <a:r>
              <a:rPr lang="en-US" sz="2800" b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endParaRPr lang="sr-Latn-RS" sz="2800" b="1" spc="-78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Korišćen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obj-m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sistem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za </a:t>
            </a:r>
            <a:r>
              <a:rPr lang="en-US" sz="2800" i="1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build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modula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specifično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za </a:t>
            </a:r>
            <a:r>
              <a:rPr lang="en-US" sz="2800" spc="-78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verziju</a:t>
            </a:r>
            <a:r>
              <a:rPr lang="en-US" sz="2800" spc="-78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kernela 6.18.9.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6784291" y="901942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1104900" y="2621180"/>
            <a:ext cx="4017831" cy="701294"/>
          </a:xfrm>
          <a:custGeom>
            <a:avLst/>
            <a:gdLst/>
            <a:ahLst/>
            <a:cxnLst/>
            <a:rect l="l" t="t" r="r" b="b"/>
            <a:pathLst>
              <a:path w="4017831" h="701294">
                <a:moveTo>
                  <a:pt x="0" y="0"/>
                </a:moveTo>
                <a:lnTo>
                  <a:pt x="4017831" y="0"/>
                </a:lnTo>
                <a:lnTo>
                  <a:pt x="4017831" y="701294"/>
                </a:lnTo>
                <a:lnTo>
                  <a:pt x="0" y="7012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6070360" y="8863664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87"/>
              </a:lnSpc>
              <a:spcBef>
                <a:spcPct val="0"/>
              </a:spcBef>
            </a:pPr>
            <a:r>
              <a:rPr lang="en-US" sz="1777" spc="-81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007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43000" y="1562100"/>
            <a:ext cx="9213924" cy="1258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74"/>
              </a:lnSpc>
              <a:spcBef>
                <a:spcPct val="0"/>
              </a:spcBef>
            </a:pPr>
            <a:r>
              <a:rPr lang="en-US" sz="6220" spc="-347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Algoritam</a:t>
            </a:r>
            <a:r>
              <a:rPr lang="en-US" sz="6220" spc="-347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6220" spc="-347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pretrage</a:t>
            </a:r>
            <a:r>
              <a:rPr lang="en-US" sz="6220" spc="-347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43000" y="2601197"/>
            <a:ext cx="9448800" cy="1258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74"/>
              </a:lnSpc>
              <a:spcBef>
                <a:spcPct val="0"/>
              </a:spcBef>
            </a:pPr>
            <a:r>
              <a:rPr lang="en-US" sz="6220" b="1" spc="-347" dirty="0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Od </a:t>
            </a:r>
            <a:r>
              <a:rPr lang="en-US" sz="6220" b="1" spc="-347" dirty="0" err="1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putanje</a:t>
            </a:r>
            <a:r>
              <a:rPr lang="en-US" sz="6220" b="1" spc="-347" dirty="0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 do </a:t>
            </a:r>
            <a:r>
              <a:rPr lang="en-US" sz="6220" b="1" spc="-347" dirty="0" err="1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Inode</a:t>
            </a:r>
            <a:r>
              <a:rPr lang="en-US" sz="6220" b="1" spc="-347" dirty="0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-a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43000" y="4064079"/>
            <a:ext cx="9448800" cy="60324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Da bi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rešenje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bilo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efikasno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implementirana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sledeća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logika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51435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Dobijanje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Inode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-a: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Funkcija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kern_path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pretvara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string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putanje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u 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path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strukturu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iz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izvlačimo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jedinstveni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inode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ciljanog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fajla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51435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Prolazak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kroz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procese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Makro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for_each_process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(task)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prolazi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kroz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kružnu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listu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svih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aktivnih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deskriptora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51435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Iteracija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kroz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deskriptore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fajlova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Za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svaki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proveravamo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njegovu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tabelu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otvorenih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fajlova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task-&gt;files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).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51435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Poređenje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Ako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ima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otvoren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fajl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čiji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se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inode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poklapa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našim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ciljanim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inode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-om,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se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markira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za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ispis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detalja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35A7972-BC70-E31C-03A8-4C27A0150B38}"/>
              </a:ext>
            </a:extLst>
          </p:cNvPr>
          <p:cNvPicPr>
            <a:picLocks/>
          </p:cNvPicPr>
          <p:nvPr/>
        </p:nvPicPr>
        <p:blipFill>
          <a:blip r:embed="rId6" cstate="print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  <p:sp>
        <p:nvSpPr>
          <p:cNvPr id="9" name="Freeform 9"/>
          <p:cNvSpPr/>
          <p:nvPr/>
        </p:nvSpPr>
        <p:spPr>
          <a:xfrm>
            <a:off x="11506200" y="3086222"/>
            <a:ext cx="6393051" cy="4114800"/>
          </a:xfrm>
          <a:custGeom>
            <a:avLst/>
            <a:gdLst/>
            <a:ahLst/>
            <a:cxnLst/>
            <a:rect l="l" t="t" r="r" b="b"/>
            <a:pathLst>
              <a:path w="6393051" h="4114800">
                <a:moveTo>
                  <a:pt x="0" y="0"/>
                </a:moveTo>
                <a:lnTo>
                  <a:pt x="6393050" y="0"/>
                </a:lnTo>
                <a:lnTo>
                  <a:pt x="6393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784291" y="901942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1104900" y="2621180"/>
            <a:ext cx="4017831" cy="701294"/>
          </a:xfrm>
          <a:custGeom>
            <a:avLst/>
            <a:gdLst/>
            <a:ahLst/>
            <a:cxnLst/>
            <a:rect l="l" t="t" r="r" b="b"/>
            <a:pathLst>
              <a:path w="4017831" h="701294">
                <a:moveTo>
                  <a:pt x="0" y="0"/>
                </a:moveTo>
                <a:lnTo>
                  <a:pt x="4017831" y="0"/>
                </a:lnTo>
                <a:lnTo>
                  <a:pt x="4017831" y="701294"/>
                </a:lnTo>
                <a:lnTo>
                  <a:pt x="0" y="7012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6070360" y="8863664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87"/>
              </a:lnSpc>
              <a:spcBef>
                <a:spcPct val="0"/>
              </a:spcBef>
            </a:pPr>
            <a:r>
              <a:rPr lang="en-US" sz="1777" spc="-81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008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124200" y="1496906"/>
            <a:ext cx="12039600" cy="1076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703"/>
              </a:lnSpc>
              <a:spcBef>
                <a:spcPct val="0"/>
              </a:spcBef>
            </a:pPr>
            <a:r>
              <a:rPr lang="pl-PL" sz="6217" spc="-285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Analiza i ekstrakcija podataka iz</a:t>
            </a:r>
            <a:endParaRPr lang="en-US" sz="6217" spc="-285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5876417" y="2446437"/>
            <a:ext cx="6535166" cy="1070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03"/>
              </a:lnSpc>
              <a:spcBef>
                <a:spcPct val="0"/>
              </a:spcBef>
            </a:pPr>
            <a:r>
              <a:rPr lang="en-US" sz="6217" b="1" spc="-285" dirty="0" err="1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task_struct</a:t>
            </a:r>
            <a:endParaRPr lang="en-US" sz="6217" b="1" spc="-285" dirty="0">
              <a:solidFill>
                <a:srgbClr val="EBF5FE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2286000" y="3969003"/>
            <a:ext cx="13716000" cy="56015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Identifikacija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i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hijerarhija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Pored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osnovnog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PID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-a,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ekstraktovan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PPID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Parent PID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)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preko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pokazivača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roditeljski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task-&gt;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real_parent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-&gt;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pid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)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radi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jasnijeg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uvida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u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stablo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Vlasništvo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(Credentials):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Korišćeni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makroi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za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bezbedan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pristup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kredencijalima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kako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bi se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izvukli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UID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i 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GID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vlasnika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Memorijski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profil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Korišćen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get_mm_rss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za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dobijanje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broja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rezidentnih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stranica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u RAM-u,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potom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bitovskim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pomeranjem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PAGE_SHIFT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)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konvertovane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u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kilobajte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(KB).</a:t>
            </a: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Vremenska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metrika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Ukupno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vreme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procesoru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dobijeno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sumiranjem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utime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i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stime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user/system time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)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polja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Izvršena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konverzija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iz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nanosekundi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u format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sekunde.milisekunde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Multithreading: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Izvučen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podatak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o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broju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niti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koristi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preko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signal-&gt;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nr_threads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1077ACC0-39E8-06AE-E0C5-F24CD38282CD}"/>
              </a:ext>
            </a:extLst>
          </p:cNvPr>
          <p:cNvPicPr>
            <a:picLocks/>
          </p:cNvPicPr>
          <p:nvPr/>
        </p:nvPicPr>
        <p:blipFill>
          <a:blip r:embed="rId6" cstate="print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6784291" y="901942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1104900" y="2621180"/>
            <a:ext cx="4017831" cy="701294"/>
          </a:xfrm>
          <a:custGeom>
            <a:avLst/>
            <a:gdLst/>
            <a:ahLst/>
            <a:cxnLst/>
            <a:rect l="l" t="t" r="r" b="b"/>
            <a:pathLst>
              <a:path w="4017831" h="701294">
                <a:moveTo>
                  <a:pt x="0" y="0"/>
                </a:moveTo>
                <a:lnTo>
                  <a:pt x="4017831" y="0"/>
                </a:lnTo>
                <a:lnTo>
                  <a:pt x="4017831" y="701294"/>
                </a:lnTo>
                <a:lnTo>
                  <a:pt x="0" y="7012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6070360" y="8863664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87"/>
              </a:lnSpc>
              <a:spcBef>
                <a:spcPct val="0"/>
              </a:spcBef>
            </a:pPr>
            <a:r>
              <a:rPr lang="en-US" sz="1777" spc="-81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009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27020" y="1825486"/>
            <a:ext cx="10541180" cy="1258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74"/>
              </a:lnSpc>
              <a:spcBef>
                <a:spcPct val="0"/>
              </a:spcBef>
            </a:pPr>
            <a:r>
              <a:rPr lang="en-US" sz="6220" spc="-347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Ključne</a:t>
            </a:r>
            <a:r>
              <a:rPr lang="en-US" sz="6220" spc="-347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6220" spc="-347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komande</a:t>
            </a:r>
            <a:r>
              <a:rPr lang="en-US" sz="6220" spc="-347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i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27020" y="2864582"/>
            <a:ext cx="8940980" cy="1258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74"/>
              </a:lnSpc>
              <a:spcBef>
                <a:spcPct val="0"/>
              </a:spcBef>
            </a:pPr>
            <a:r>
              <a:rPr lang="en-US" sz="6220" b="1" spc="-347" dirty="0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workflow u </a:t>
            </a:r>
            <a:r>
              <a:rPr lang="en-US" sz="6220" b="1" spc="-347" dirty="0" err="1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terminalu</a:t>
            </a:r>
            <a:endParaRPr lang="en-US" sz="6220" b="1" spc="-347" dirty="0">
              <a:solidFill>
                <a:srgbClr val="EBF5FE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727020" y="4457700"/>
            <a:ext cx="14343340" cy="430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Build i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instalacija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kernela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  <a:endParaRPr lang="sr-Latn-RS" sz="2800" i="1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prevo</a:t>
            </a:r>
            <a:r>
              <a:rPr lang="sr-Latn-R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đenje kernela: 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make -j$(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nproc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)</a:t>
            </a:r>
            <a:r>
              <a:rPr lang="sr-Latn-R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sr-Latn-R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nstalacija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modula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i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kernela</a:t>
            </a:r>
            <a:r>
              <a:rPr lang="sr-Latn-R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sudo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make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modules_install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sr-Latn-R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sr-Latn-R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udo make install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>
              <a:spcBef>
                <a:spcPct val="0"/>
              </a:spcBef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Upravljanje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pokretanjem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(Boot management):</a:t>
            </a:r>
            <a:endParaRPr lang="sr-Latn-R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sr-Latn-R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g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enerisanje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ramdisk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-a</a:t>
            </a:r>
            <a:r>
              <a:rPr lang="sr-Latn-R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sudo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update-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initramfs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-c -k 6.18.9 </a:t>
            </a:r>
            <a:endParaRPr lang="sr-Latn-RS" sz="2800" i="1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sr-Latn-R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a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žuriranje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bootloadera</a:t>
            </a:r>
            <a:r>
              <a:rPr lang="sr-Latn-R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sudo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update-grub</a:t>
            </a:r>
            <a:endParaRPr lang="sr-Latn-RS" sz="2800" i="1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sr-Latn-R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restart sistema: </a:t>
            </a:r>
            <a:r>
              <a:rPr lang="sr-Latn-R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sudo reboot</a:t>
            </a:r>
          </a:p>
          <a:p>
            <a:pPr>
              <a:spcBef>
                <a:spcPct val="0"/>
              </a:spcBef>
            </a:pPr>
            <a:r>
              <a:rPr lang="sr-Latn-R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Pokretanje  testa i  ispis rezultata:</a:t>
            </a: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./test_scenario.sh</a:t>
            </a:r>
            <a:r>
              <a:rPr lang="sr-Latn-R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sr-Latn-R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ili </a:t>
            </a:r>
            <a:r>
              <a:rPr lang="sr-Latn-R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./test_scenario_modul.sh</a:t>
            </a: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sudo dmesg | tail -n 50</a:t>
            </a:r>
            <a:endParaRPr lang="en-US" sz="2800" i="1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AE56EA2-CFD6-55BA-F511-EC8DF747E24C}"/>
              </a:ext>
            </a:extLst>
          </p:cNvPr>
          <p:cNvPicPr>
            <a:picLocks/>
          </p:cNvPicPr>
          <p:nvPr/>
        </p:nvPicPr>
        <p:blipFill>
          <a:blip r:embed="rId6" cstate="print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7C192C-FAF0-70BB-EA12-06FF16EE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7A87FF34-16BA-3060-DCA0-2B37B7D720B3}"/>
              </a:ext>
            </a:extLst>
          </p:cNvPr>
          <p:cNvSpPr/>
          <p:nvPr/>
        </p:nvSpPr>
        <p:spPr>
          <a:xfrm>
            <a:off x="16784291" y="901942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2765827-59AB-19DC-C3E9-78F18A09F770}"/>
              </a:ext>
            </a:extLst>
          </p:cNvPr>
          <p:cNvSpPr/>
          <p:nvPr/>
        </p:nvSpPr>
        <p:spPr>
          <a:xfrm>
            <a:off x="-1104900" y="2621180"/>
            <a:ext cx="4017831" cy="701294"/>
          </a:xfrm>
          <a:custGeom>
            <a:avLst/>
            <a:gdLst/>
            <a:ahLst/>
            <a:cxnLst/>
            <a:rect l="l" t="t" r="r" b="b"/>
            <a:pathLst>
              <a:path w="4017831" h="701294">
                <a:moveTo>
                  <a:pt x="0" y="0"/>
                </a:moveTo>
                <a:lnTo>
                  <a:pt x="4017831" y="0"/>
                </a:lnTo>
                <a:lnTo>
                  <a:pt x="4017831" y="701294"/>
                </a:lnTo>
                <a:lnTo>
                  <a:pt x="0" y="7012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8642F7B6-01EA-CEC4-CF73-D35DEDB931DE}"/>
              </a:ext>
            </a:extLst>
          </p:cNvPr>
          <p:cNvSpPr txBox="1"/>
          <p:nvPr/>
        </p:nvSpPr>
        <p:spPr>
          <a:xfrm>
            <a:off x="16070360" y="8863664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2487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77" b="0" i="0" u="none" strike="noStrike" kern="1200" cap="none" spc="-81" normalizeH="0" baseline="0" noProof="0" dirty="0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0</a:t>
            </a:r>
            <a:r>
              <a:rPr kumimoji="0" lang="sr-Latn-RS" sz="1777" b="0" i="0" u="none" strike="noStrike" kern="1200" cap="none" spc="-81" normalizeH="0" baseline="0" noProof="0" dirty="0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10</a:t>
            </a:r>
            <a:endParaRPr kumimoji="0" lang="en-US" sz="1777" b="0" i="0" u="none" strike="noStrike" kern="1200" cap="none" spc="-81" normalizeH="0" baseline="0" noProof="0" dirty="0">
              <a:ln>
                <a:noFill/>
              </a:ln>
              <a:solidFill>
                <a:srgbClr val="EBF5FE"/>
              </a:solidFill>
              <a:effectLst/>
              <a:uLnTx/>
              <a:uFillTx/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4202DFB-3C79-AB96-A669-7A8D7C6B8AA7}"/>
              </a:ext>
            </a:extLst>
          </p:cNvPr>
          <p:cNvSpPr txBox="1"/>
          <p:nvPr/>
        </p:nvSpPr>
        <p:spPr>
          <a:xfrm>
            <a:off x="1727020" y="1485900"/>
            <a:ext cx="10541180" cy="1258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0574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r-Latn-RS" sz="6220" b="0" i="0" u="none" strike="noStrike" kern="1200" cap="none" spc="-347" normalizeH="0" baseline="0" noProof="0" dirty="0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Najbitniji delovi</a:t>
            </a:r>
            <a:endParaRPr kumimoji="0" lang="en-US" sz="6220" b="0" i="0" u="none" strike="noStrike" kern="1200" cap="none" spc="-347" normalizeH="0" baseline="0" noProof="0" dirty="0">
              <a:ln>
                <a:noFill/>
              </a:ln>
              <a:solidFill>
                <a:srgbClr val="EBF5FE"/>
              </a:solidFill>
              <a:effectLst/>
              <a:uLnTx/>
              <a:uFillTx/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D8D7C71-BBDF-E061-5B39-3DE45FB121DB}"/>
              </a:ext>
            </a:extLst>
          </p:cNvPr>
          <p:cNvSpPr txBox="1"/>
          <p:nvPr/>
        </p:nvSpPr>
        <p:spPr>
          <a:xfrm>
            <a:off x="7315200" y="1485900"/>
            <a:ext cx="8940980" cy="1258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0574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r-Latn-RS" sz="6220" b="1" i="0" u="none" strike="noStrike" kern="1200" cap="none" spc="-347" normalizeH="0" baseline="0" noProof="0" dirty="0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 Bold"/>
                <a:ea typeface="Garet Bold"/>
                <a:cs typeface="Garet Bold"/>
                <a:sym typeface="Garet Bold"/>
              </a:rPr>
              <a:t>koda</a:t>
            </a:r>
            <a:endParaRPr kumimoji="0" lang="en-US" sz="6220" b="1" i="0" u="none" strike="noStrike" kern="1200" cap="none" spc="-347" normalizeH="0" baseline="0" noProof="0" dirty="0">
              <a:ln>
                <a:noFill/>
              </a:ln>
              <a:solidFill>
                <a:srgbClr val="EBF5FE"/>
              </a:solidFill>
              <a:effectLst/>
              <a:uLnTx/>
              <a:uFillTx/>
              <a:latin typeface="Garet Bold"/>
              <a:ea typeface="Garet Bold"/>
              <a:cs typeface="Garet Bold"/>
              <a:sym typeface="Garet Bold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06F8B38F-E43B-8315-32E9-05136D929975}"/>
              </a:ext>
            </a:extLst>
          </p:cNvPr>
          <p:cNvPicPr>
            <a:picLocks/>
          </p:cNvPicPr>
          <p:nvPr/>
        </p:nvPicPr>
        <p:blipFill>
          <a:blip r:embed="rId6" cstate="print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FF6B951-7ECD-E963-9FE1-78257C7FCB3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87719" y="4134988"/>
            <a:ext cx="6691711" cy="5809112"/>
          </a:xfrm>
          <a:prstGeom prst="rect">
            <a:avLst/>
          </a:prstGeom>
        </p:spPr>
      </p:pic>
      <p:sp>
        <p:nvSpPr>
          <p:cNvPr id="8" name="TextBox 22">
            <a:extLst>
              <a:ext uri="{FF2B5EF4-FFF2-40B4-BE49-F238E27FC236}">
                <a16:creationId xmlns:a16="http://schemas.microsoft.com/office/drawing/2014/main" id="{D9464EAE-D59E-912A-6859-C0D5498E3C00}"/>
              </a:ext>
            </a:extLst>
          </p:cNvPr>
          <p:cNvSpPr txBox="1"/>
          <p:nvPr/>
        </p:nvSpPr>
        <p:spPr>
          <a:xfrm>
            <a:off x="787720" y="3171174"/>
            <a:ext cx="4495800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/>
            </a:pPr>
            <a:r>
              <a:rPr lang="sr-Latn-R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Iteracija kroz procese</a:t>
            </a:r>
          </a:p>
          <a:p>
            <a:pPr marL="51435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Poređenje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Inode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-a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DC5DB3D-8414-4899-8609-D19E26A51F9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14661" y="5600700"/>
            <a:ext cx="6590281" cy="1211762"/>
          </a:xfrm>
          <a:prstGeom prst="rect">
            <a:avLst/>
          </a:prstGeom>
        </p:spPr>
      </p:pic>
      <p:sp>
        <p:nvSpPr>
          <p:cNvPr id="14" name="TextBox 22">
            <a:extLst>
              <a:ext uri="{FF2B5EF4-FFF2-40B4-BE49-F238E27FC236}">
                <a16:creationId xmlns:a16="http://schemas.microsoft.com/office/drawing/2014/main" id="{94E4E0B5-12DA-D418-B96F-F4E6BC40E589}"/>
              </a:ext>
            </a:extLst>
          </p:cNvPr>
          <p:cNvSpPr txBox="1"/>
          <p:nvPr/>
        </p:nvSpPr>
        <p:spPr>
          <a:xfrm>
            <a:off x="8314662" y="3171174"/>
            <a:ext cx="7907076" cy="21544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Test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skripta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</a:p>
          <a:p>
            <a:pPr>
              <a:spcBef>
                <a:spcPct val="0"/>
              </a:spcBef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Skripta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automatizuje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kreiranje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test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okruženja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podiže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pozadinske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(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tail/sleep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) i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prosleđuje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dinamičku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putanju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test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aplikaciji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čime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se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simulira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realno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opterećenje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sistema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6028FE7-1EAE-BAE1-9590-CBCB756C16B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14661" y="7152153"/>
            <a:ext cx="6590283" cy="959750"/>
          </a:xfrm>
          <a:prstGeom prst="rect">
            <a:avLst/>
          </a:prstGeom>
        </p:spPr>
      </p:pic>
      <p:sp>
        <p:nvSpPr>
          <p:cNvPr id="2" name="TextBox 22">
            <a:extLst>
              <a:ext uri="{FF2B5EF4-FFF2-40B4-BE49-F238E27FC236}">
                <a16:creationId xmlns:a16="http://schemas.microsoft.com/office/drawing/2014/main" id="{75786876-43AE-E130-3DE6-412AA8B2F860}"/>
              </a:ext>
            </a:extLst>
          </p:cNvPr>
          <p:cNvSpPr txBox="1"/>
          <p:nvPr/>
        </p:nvSpPr>
        <p:spPr>
          <a:xfrm>
            <a:off x="8314660" y="8420100"/>
            <a:ext cx="7941519" cy="1723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*Neki od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bitnijih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fajlova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organizovani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u /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src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direktorijumu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repozitorijuma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  <a:b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</a:b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https://github.com/SukiDj/Linux-Kernel-Process-Monitor</a:t>
            </a:r>
            <a:endParaRPr lang="en-U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</p:txBody>
      </p:sp>
    </p:spTree>
    <p:extLst>
      <p:ext uri="{BB962C8B-B14F-4D97-AF65-F5344CB8AC3E}">
        <p14:creationId xmlns:p14="http://schemas.microsoft.com/office/powerpoint/2010/main" val="1656386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 rot="548354">
            <a:off x="10695521" y="-42357"/>
            <a:ext cx="10371714" cy="10371714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9FCDFF">
                    <a:alpha val="0"/>
                  </a:srgbClr>
                </a:gs>
                <a:gs pos="100000">
                  <a:srgbClr val="3964CD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6784291" y="901942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16070360" y="8863664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87"/>
              </a:lnSpc>
              <a:spcBef>
                <a:spcPct val="0"/>
              </a:spcBef>
            </a:pPr>
            <a:r>
              <a:rPr lang="en-US" sz="1777" spc="-81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011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41532" y="1936722"/>
            <a:ext cx="7875490" cy="12588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74"/>
              </a:lnSpc>
              <a:spcBef>
                <a:spcPct val="0"/>
              </a:spcBef>
            </a:pPr>
            <a:r>
              <a:rPr lang="en-US" sz="6220" spc="-347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Rezultati</a:t>
            </a:r>
            <a:endParaRPr lang="en-US" sz="6220" spc="-347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41532" y="2857500"/>
            <a:ext cx="8002468" cy="12588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74"/>
              </a:lnSpc>
              <a:spcBef>
                <a:spcPct val="0"/>
              </a:spcBef>
            </a:pPr>
            <a:r>
              <a:rPr lang="en-US" sz="6220" b="1" spc="-347" dirty="0" err="1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testiranja</a:t>
            </a:r>
            <a:endParaRPr lang="en-US" sz="6220" b="1" spc="-347" dirty="0">
              <a:solidFill>
                <a:srgbClr val="EBF5FE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141532" y="4726647"/>
            <a:ext cx="7875490" cy="4739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Test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okruženje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Kreirano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više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paralelnih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pomoću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tail i sleep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komandi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nad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istom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datotekom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Verifikacija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Sistemski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poziv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i kernel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modul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uspešno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identifikovali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sve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procese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pružajući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konzistentne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i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precizne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podatke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u oba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slučaja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Stabilnost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Modifikacije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nisu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narušile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stabilnost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sistema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što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potvrđeno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višestrukim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testiranjem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i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praćenjem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sistemskih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logova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5172224-05DE-20E1-4957-4624EFF3C25B}"/>
              </a:ext>
            </a:extLst>
          </p:cNvPr>
          <p:cNvPicPr>
            <a:picLocks/>
          </p:cNvPicPr>
          <p:nvPr/>
        </p:nvPicPr>
        <p:blipFill>
          <a:blip r:embed="rId4" cstate="print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7DFDFE1-191F-8A36-BCF9-0D610AB8B2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0980" y="4679298"/>
            <a:ext cx="6870616" cy="47871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1AC7C2-7300-CD33-B820-161746B1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6268AC87-76B7-A920-FC98-145456A3300D}"/>
              </a:ext>
            </a:extLst>
          </p:cNvPr>
          <p:cNvGrpSpPr/>
          <p:nvPr/>
        </p:nvGrpSpPr>
        <p:grpSpPr>
          <a:xfrm rot="548354">
            <a:off x="10695521" y="-42357"/>
            <a:ext cx="10371714" cy="10371714"/>
            <a:chOff x="0" y="0"/>
            <a:chExt cx="812800" cy="81280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7648A2C-6A6F-6FE5-C249-C5A8C08E087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9FCDFF">
                    <a:alpha val="0"/>
                  </a:srgbClr>
                </a:gs>
                <a:gs pos="100000">
                  <a:srgbClr val="3964CD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44F4E2E-0A8C-AC6B-266F-09CC90A4540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8E6FD498-AE0D-04A1-9554-821BEC0F3077}"/>
              </a:ext>
            </a:extLst>
          </p:cNvPr>
          <p:cNvSpPr/>
          <p:nvPr/>
        </p:nvSpPr>
        <p:spPr>
          <a:xfrm>
            <a:off x="16784291" y="901942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02C750E0-1F4A-1160-DAD8-77B716943F0F}"/>
              </a:ext>
            </a:extLst>
          </p:cNvPr>
          <p:cNvSpPr txBox="1"/>
          <p:nvPr/>
        </p:nvSpPr>
        <p:spPr>
          <a:xfrm>
            <a:off x="16070360" y="9330433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2487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77" b="0" i="0" u="none" strike="noStrike" kern="1200" cap="none" spc="-81" normalizeH="0" baseline="0" noProof="0" dirty="0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012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498DB10B-449C-D5F1-65B6-D62DDA006956}"/>
              </a:ext>
            </a:extLst>
          </p:cNvPr>
          <p:cNvSpPr txBox="1"/>
          <p:nvPr/>
        </p:nvSpPr>
        <p:spPr>
          <a:xfrm>
            <a:off x="1141532" y="1936722"/>
            <a:ext cx="4463930" cy="19143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220" b="0" i="0" u="none" strike="noStrike" kern="1200" cap="none" spc="-347" normalizeH="0" baseline="0" noProof="0" dirty="0" err="1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Rezultati</a:t>
            </a:r>
            <a:endParaRPr kumimoji="0" lang="en-US" sz="6220" b="0" i="0" u="none" strike="noStrike" kern="1200" cap="none" spc="-347" normalizeH="0" baseline="0" noProof="0" dirty="0">
              <a:ln>
                <a:noFill/>
              </a:ln>
              <a:solidFill>
                <a:srgbClr val="EBF5FE"/>
              </a:solidFill>
              <a:effectLst/>
              <a:uLnTx/>
              <a:uFillTx/>
              <a:latin typeface="Garet"/>
              <a:ea typeface="Garet"/>
              <a:cs typeface="Garet"/>
              <a:sym typeface="Garet"/>
            </a:endParaRPr>
          </a:p>
          <a:p>
            <a:pPr marL="0" marR="0" lvl="0" indent="0" algn="l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6220" spc="-347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testiranja</a:t>
            </a:r>
            <a:r>
              <a:rPr lang="en-US" sz="6220" spc="-347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:</a:t>
            </a:r>
            <a:endParaRPr kumimoji="0" lang="en-US" sz="6220" b="0" i="0" u="none" strike="noStrike" kern="1200" cap="none" spc="-347" normalizeH="0" baseline="0" noProof="0" dirty="0">
              <a:ln>
                <a:noFill/>
              </a:ln>
              <a:solidFill>
                <a:srgbClr val="EBF5FE"/>
              </a:solidFill>
              <a:effectLst/>
              <a:uLnTx/>
              <a:uFillTx/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E45E69C3-C574-3623-CA40-4D1FEB0C8051}"/>
              </a:ext>
            </a:extLst>
          </p:cNvPr>
          <p:cNvSpPr txBox="1"/>
          <p:nvPr/>
        </p:nvSpPr>
        <p:spPr>
          <a:xfrm>
            <a:off x="1141532" y="3838730"/>
            <a:ext cx="5411668" cy="19143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220" b="1" i="0" u="none" strike="noStrike" kern="1200" cap="none" spc="-347" normalizeH="0" baseline="0" noProof="0" dirty="0" err="1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 Bold"/>
                <a:ea typeface="Garet Bold"/>
                <a:cs typeface="Garet Bold"/>
                <a:sym typeface="Garet Bold"/>
              </a:rPr>
              <a:t>Sistemski</a:t>
            </a:r>
            <a:endParaRPr kumimoji="0" lang="en-US" sz="6220" b="1" i="0" u="none" strike="noStrike" kern="1200" cap="none" spc="-347" normalizeH="0" baseline="0" noProof="0" dirty="0">
              <a:ln>
                <a:noFill/>
              </a:ln>
              <a:solidFill>
                <a:srgbClr val="EBF5FE"/>
              </a:solidFill>
              <a:effectLst/>
              <a:uLnTx/>
              <a:uFillTx/>
              <a:latin typeface="Garet Bold"/>
              <a:ea typeface="Garet Bold"/>
              <a:cs typeface="Garet Bold"/>
              <a:sym typeface="Garet Bold"/>
            </a:endParaRPr>
          </a:p>
          <a:p>
            <a:pPr marL="0" marR="0" lvl="0" indent="0" algn="l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6220" b="1" spc="-347" dirty="0" err="1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poziv</a:t>
            </a:r>
            <a:endParaRPr kumimoji="0" lang="en-US" sz="6220" b="1" i="0" u="none" strike="noStrike" kern="1200" cap="none" spc="-347" normalizeH="0" baseline="0" noProof="0" dirty="0">
              <a:ln>
                <a:noFill/>
              </a:ln>
              <a:solidFill>
                <a:srgbClr val="EBF5FE"/>
              </a:solidFill>
              <a:effectLst/>
              <a:uLnTx/>
              <a:uFillTx/>
              <a:latin typeface="Garet Bold"/>
              <a:ea typeface="Garet Bold"/>
              <a:cs typeface="Garet Bold"/>
              <a:sym typeface="Garet Bold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885C5FA-1F3C-0F7E-0BD3-7446A812BCBB}"/>
              </a:ext>
            </a:extLst>
          </p:cNvPr>
          <p:cNvPicPr>
            <a:picLocks/>
          </p:cNvPicPr>
          <p:nvPr/>
        </p:nvPicPr>
        <p:blipFill>
          <a:blip r:embed="rId4" cstate="print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233DCF-D3DC-CABF-0271-D6A6EBDE097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28" y="6562930"/>
            <a:ext cx="7077075" cy="21050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0CC7D6-5E75-DFEB-771B-BDF91D5FEF6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7647" y="657430"/>
            <a:ext cx="10334625" cy="8010525"/>
          </a:xfrm>
          <a:prstGeom prst="rect">
            <a:avLst/>
          </a:prstGeom>
        </p:spPr>
      </p:pic>
      <p:sp>
        <p:nvSpPr>
          <p:cNvPr id="8" name="TextBox 16">
            <a:extLst>
              <a:ext uri="{FF2B5EF4-FFF2-40B4-BE49-F238E27FC236}">
                <a16:creationId xmlns:a16="http://schemas.microsoft.com/office/drawing/2014/main" id="{1A05BA88-0BD7-28AA-559B-020DD77B17DA}"/>
              </a:ext>
            </a:extLst>
          </p:cNvPr>
          <p:cNvSpPr txBox="1"/>
          <p:nvPr/>
        </p:nvSpPr>
        <p:spPr>
          <a:xfrm>
            <a:off x="285728" y="8979813"/>
            <a:ext cx="6724672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Pokretanje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skripte</a:t>
            </a:r>
            <a:endParaRPr lang="en-US" sz="2800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9" name="TextBox 16">
            <a:extLst>
              <a:ext uri="{FF2B5EF4-FFF2-40B4-BE49-F238E27FC236}">
                <a16:creationId xmlns:a16="http://schemas.microsoft.com/office/drawing/2014/main" id="{19155104-51D4-EBD8-A420-F128A238817A}"/>
              </a:ext>
            </a:extLst>
          </p:cNvPr>
          <p:cNvSpPr txBox="1"/>
          <p:nvPr/>
        </p:nvSpPr>
        <p:spPr>
          <a:xfrm>
            <a:off x="7689773" y="8979812"/>
            <a:ext cx="6724672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Pokretanje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pt-BR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sudo dmesg | tail -n 50</a:t>
            </a:r>
            <a:endParaRPr lang="en-US" sz="2800" i="1" spc="-78" dirty="0">
              <a:solidFill>
                <a:schemeClr val="bg1"/>
              </a:solidFill>
              <a:latin typeface="Garet"/>
              <a:ea typeface="Garet"/>
              <a:cs typeface="Garet"/>
              <a:sym typeface="Garet"/>
            </a:endParaRPr>
          </a:p>
        </p:txBody>
      </p:sp>
    </p:spTree>
    <p:extLst>
      <p:ext uri="{BB962C8B-B14F-4D97-AF65-F5344CB8AC3E}">
        <p14:creationId xmlns:p14="http://schemas.microsoft.com/office/powerpoint/2010/main" val="1772167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8297DC-04A7-8CF1-1B1F-A67F2A183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989516B9-F9B1-7570-F1B7-227DFE77FC24}"/>
              </a:ext>
            </a:extLst>
          </p:cNvPr>
          <p:cNvGrpSpPr/>
          <p:nvPr/>
        </p:nvGrpSpPr>
        <p:grpSpPr>
          <a:xfrm rot="548354">
            <a:off x="10695521" y="-42357"/>
            <a:ext cx="10371714" cy="10371714"/>
            <a:chOff x="0" y="0"/>
            <a:chExt cx="812800" cy="81280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D4D4FA7-A32A-2F43-2D86-45A4BBC7206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9FCDFF">
                    <a:alpha val="0"/>
                  </a:srgbClr>
                </a:gs>
                <a:gs pos="100000">
                  <a:srgbClr val="3964CD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F350E0D-80BE-5757-71A5-C29F167CEE4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1521146E-CA7A-4434-825D-A6ACAB267033}"/>
              </a:ext>
            </a:extLst>
          </p:cNvPr>
          <p:cNvSpPr/>
          <p:nvPr/>
        </p:nvSpPr>
        <p:spPr>
          <a:xfrm>
            <a:off x="16784291" y="901942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49A6D4C-657C-2E2D-17C5-E030EC1BA6CB}"/>
              </a:ext>
            </a:extLst>
          </p:cNvPr>
          <p:cNvSpPr txBox="1"/>
          <p:nvPr/>
        </p:nvSpPr>
        <p:spPr>
          <a:xfrm>
            <a:off x="16070360" y="9330433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2487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77" b="0" i="0" u="none" strike="noStrike" kern="1200" cap="none" spc="-81" normalizeH="0" baseline="0" noProof="0" dirty="0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013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EA18090-82AB-5B3F-337C-070111E8A66D}"/>
              </a:ext>
            </a:extLst>
          </p:cNvPr>
          <p:cNvSpPr txBox="1"/>
          <p:nvPr/>
        </p:nvSpPr>
        <p:spPr>
          <a:xfrm>
            <a:off x="1141532" y="1936722"/>
            <a:ext cx="4463930" cy="19143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220" b="0" i="0" u="none" strike="noStrike" kern="1200" cap="none" spc="-347" normalizeH="0" baseline="0" noProof="0" dirty="0" err="1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Rezultati</a:t>
            </a:r>
            <a:endParaRPr kumimoji="0" lang="en-US" sz="6220" b="0" i="0" u="none" strike="noStrike" kern="1200" cap="none" spc="-347" normalizeH="0" baseline="0" noProof="0" dirty="0">
              <a:ln>
                <a:noFill/>
              </a:ln>
              <a:solidFill>
                <a:srgbClr val="EBF5FE"/>
              </a:solidFill>
              <a:effectLst/>
              <a:uLnTx/>
              <a:uFillTx/>
              <a:latin typeface="Garet"/>
              <a:ea typeface="Garet"/>
              <a:cs typeface="Garet"/>
              <a:sym typeface="Gare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220" b="0" i="0" u="none" strike="noStrike" kern="1200" cap="none" spc="-347" normalizeH="0" baseline="0" noProof="0" dirty="0" err="1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testiranja</a:t>
            </a:r>
            <a:r>
              <a:rPr kumimoji="0" lang="en-US" sz="6220" b="0" i="0" u="none" strike="noStrike" kern="1200" cap="none" spc="-347" normalizeH="0" baseline="0" noProof="0" dirty="0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: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5BC484EF-9143-46FA-1655-6E598D02332E}"/>
              </a:ext>
            </a:extLst>
          </p:cNvPr>
          <p:cNvSpPr txBox="1"/>
          <p:nvPr/>
        </p:nvSpPr>
        <p:spPr>
          <a:xfrm>
            <a:off x="1141532" y="3838730"/>
            <a:ext cx="5411668" cy="19143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220" b="1" i="0" u="none" strike="noStrike" kern="1200" cap="none" spc="-347" normalizeH="0" baseline="0" noProof="0" dirty="0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 Bold"/>
                <a:ea typeface="Garet Bold"/>
                <a:cs typeface="Garet Bold"/>
                <a:sym typeface="Garet Bold"/>
              </a:rPr>
              <a:t>Kernel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6220" b="1" spc="-347" dirty="0" err="1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modul</a:t>
            </a:r>
            <a:endParaRPr kumimoji="0" lang="en-US" sz="6220" b="1" i="0" u="none" strike="noStrike" kern="1200" cap="none" spc="-347" normalizeH="0" baseline="0" noProof="0" dirty="0">
              <a:ln>
                <a:noFill/>
              </a:ln>
              <a:solidFill>
                <a:srgbClr val="EBF5FE"/>
              </a:solidFill>
              <a:effectLst/>
              <a:uLnTx/>
              <a:uFillTx/>
              <a:latin typeface="Garet Bold"/>
              <a:ea typeface="Garet Bold"/>
              <a:cs typeface="Garet Bold"/>
              <a:sym typeface="Garet Bold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AD1C6F8-0E4A-54DF-4661-BDD935ED26B9}"/>
              </a:ext>
            </a:extLst>
          </p:cNvPr>
          <p:cNvPicPr>
            <a:picLocks/>
          </p:cNvPicPr>
          <p:nvPr/>
        </p:nvPicPr>
        <p:blipFill>
          <a:blip r:embed="rId4" cstate="print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  <p:sp>
        <p:nvSpPr>
          <p:cNvPr id="8" name="TextBox 16">
            <a:extLst>
              <a:ext uri="{FF2B5EF4-FFF2-40B4-BE49-F238E27FC236}">
                <a16:creationId xmlns:a16="http://schemas.microsoft.com/office/drawing/2014/main" id="{FEC9E3D3-E561-E49A-0ACA-9C48FA2A1F03}"/>
              </a:ext>
            </a:extLst>
          </p:cNvPr>
          <p:cNvSpPr txBox="1"/>
          <p:nvPr/>
        </p:nvSpPr>
        <p:spPr>
          <a:xfrm>
            <a:off x="285728" y="8979813"/>
            <a:ext cx="6724672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Pokretanje</a:t>
            </a:r>
            <a:r>
              <a:rPr kumimoji="0" lang="en-US" sz="2800" b="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b="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skripte</a:t>
            </a:r>
            <a:endParaRPr kumimoji="0" lang="en-US" sz="2800" b="0" i="0" u="none" strike="noStrike" kern="1200" cap="none" spc="-78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9" name="TextBox 16">
            <a:extLst>
              <a:ext uri="{FF2B5EF4-FFF2-40B4-BE49-F238E27FC236}">
                <a16:creationId xmlns:a16="http://schemas.microsoft.com/office/drawing/2014/main" id="{BC29D0C7-AC48-CEA6-2B89-7DDF8C83C1CE}"/>
              </a:ext>
            </a:extLst>
          </p:cNvPr>
          <p:cNvSpPr txBox="1"/>
          <p:nvPr/>
        </p:nvSpPr>
        <p:spPr>
          <a:xfrm>
            <a:off x="8450918" y="8979813"/>
            <a:ext cx="6724672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Pokretanje</a:t>
            </a:r>
            <a:r>
              <a:rPr kumimoji="0" lang="en-US" sz="2800" b="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pt-BR" sz="2800" b="0" i="1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sudo dmesg | tail -n 50</a:t>
            </a:r>
            <a:endParaRPr kumimoji="0" lang="en-US" sz="2800" b="0" i="1" u="none" strike="noStrike" kern="1200" cap="none" spc="-78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et"/>
              <a:ea typeface="Garet"/>
              <a:cs typeface="Garet"/>
              <a:sym typeface="Gare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2F3457D-3DAE-59EB-9BC3-F7C3F07553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28" y="7206469"/>
            <a:ext cx="7781925" cy="14668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C60A151-0D87-D540-A410-B3ED8439A20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0918" y="491344"/>
            <a:ext cx="9296400" cy="818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1661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784291" y="901942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1104900" y="2621180"/>
            <a:ext cx="4017831" cy="701294"/>
          </a:xfrm>
          <a:custGeom>
            <a:avLst/>
            <a:gdLst/>
            <a:ahLst/>
            <a:cxnLst/>
            <a:rect l="l" t="t" r="r" b="b"/>
            <a:pathLst>
              <a:path w="4017831" h="701294">
                <a:moveTo>
                  <a:pt x="0" y="0"/>
                </a:moveTo>
                <a:lnTo>
                  <a:pt x="4017831" y="0"/>
                </a:lnTo>
                <a:lnTo>
                  <a:pt x="4017831" y="701294"/>
                </a:lnTo>
                <a:lnTo>
                  <a:pt x="0" y="7012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6070360" y="8863664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87"/>
              </a:lnSpc>
              <a:spcBef>
                <a:spcPct val="0"/>
              </a:spcBef>
            </a:pPr>
            <a:r>
              <a:rPr lang="en-US" sz="1777" spc="-81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014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690401" y="1603058"/>
            <a:ext cx="6904701" cy="1076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703"/>
              </a:lnSpc>
              <a:spcBef>
                <a:spcPct val="0"/>
              </a:spcBef>
            </a:pPr>
            <a:r>
              <a:rPr lang="en-US" sz="6217" spc="-285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Tehnički</a:t>
            </a:r>
            <a:r>
              <a:rPr lang="en-US" sz="6217" spc="-285" dirty="0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6217" spc="-285" dirty="0" err="1">
                <a:solidFill>
                  <a:srgbClr val="EBF5FE"/>
                </a:solidFill>
                <a:latin typeface="Garet"/>
                <a:ea typeface="Garet"/>
                <a:cs typeface="Garet"/>
                <a:sym typeface="Garet"/>
              </a:rPr>
              <a:t>izazovi</a:t>
            </a:r>
            <a:endParaRPr lang="en-US" sz="6217" spc="-285" dirty="0">
              <a:solidFill>
                <a:srgbClr val="EBF5FE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5875168" y="2527879"/>
            <a:ext cx="6535166" cy="1070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03"/>
              </a:lnSpc>
              <a:spcBef>
                <a:spcPct val="0"/>
              </a:spcBef>
            </a:pPr>
            <a:r>
              <a:rPr lang="en-US" sz="6217" b="1" spc="-285" dirty="0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i </a:t>
            </a:r>
            <a:r>
              <a:rPr lang="en-US" sz="6217" b="1" spc="-285" dirty="0" err="1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rešenja</a:t>
            </a:r>
            <a:endParaRPr lang="en-US" sz="6217" b="1" spc="-285" dirty="0">
              <a:solidFill>
                <a:srgbClr val="EBF5FE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92269" y="3959537"/>
            <a:ext cx="8051480" cy="47397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Problem: </a:t>
            </a:r>
          </a:p>
          <a:p>
            <a:pPr>
              <a:spcBef>
                <a:spcPct val="0"/>
              </a:spcBef>
            </a:pP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Pad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sistema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u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initramfs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shell (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BusyBox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)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nakon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poslednje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instalacije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modifikovanog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kernela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Uzrok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</a:p>
          <a:p>
            <a:pPr>
              <a:spcBef>
                <a:spcPct val="0"/>
              </a:spcBef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Nedostatak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Initial RAM Disk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-a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drajverima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za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fajl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sistem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za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verziju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6.18.9.</a:t>
            </a:r>
          </a:p>
          <a:p>
            <a:pPr>
              <a:spcBef>
                <a:spcPct val="0"/>
              </a:spcBef>
            </a:pPr>
            <a:r>
              <a:rPr lang="en-US" sz="2800" b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Rešenje</a:t>
            </a:r>
            <a:r>
              <a:rPr lang="en-US" sz="2800" b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: </a:t>
            </a:r>
          </a:p>
          <a:p>
            <a:pPr>
              <a:spcBef>
                <a:spcPct val="0"/>
              </a:spcBef>
            </a:pP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Pristup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sistemu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preko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generičkog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kernela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,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ručno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generisanje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initrd.img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slike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pomoću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update-</a:t>
            </a:r>
            <a:r>
              <a:rPr lang="en-US" sz="2800" i="1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initramfs</a:t>
            </a:r>
            <a:r>
              <a:rPr lang="en-US" sz="2800" i="1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alata i re-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konfiguracija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 GRUB </a:t>
            </a:r>
            <a:r>
              <a:rPr lang="en-US" sz="2800" spc="-78" dirty="0" err="1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bootloadera</a:t>
            </a:r>
            <a:r>
              <a:rPr lang="en-US" sz="2800" spc="-78" dirty="0">
                <a:solidFill>
                  <a:schemeClr val="bg1"/>
                </a:solidFill>
                <a:latin typeface="Garet"/>
                <a:ea typeface="Garet"/>
                <a:cs typeface="Garet"/>
                <a:sym typeface="Garet"/>
              </a:rPr>
              <a:t>.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18999F7D-24A0-E2F7-B240-7DB2DCBD0BFC}"/>
              </a:ext>
            </a:extLst>
          </p:cNvPr>
          <p:cNvPicPr>
            <a:picLocks/>
          </p:cNvPicPr>
          <p:nvPr/>
        </p:nvPicPr>
        <p:blipFill>
          <a:blip r:embed="rId6" cstate="print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9830448-832F-DC98-D478-76E18369B7E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911" y="3959537"/>
            <a:ext cx="8301116" cy="46434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5C6FA9-899B-9E89-28B4-56A8BBDA7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DF7CD52-BEBD-C00E-F8F9-E6A92EC027D8}"/>
              </a:ext>
            </a:extLst>
          </p:cNvPr>
          <p:cNvSpPr/>
          <p:nvPr/>
        </p:nvSpPr>
        <p:spPr>
          <a:xfrm>
            <a:off x="16784291" y="901942"/>
            <a:ext cx="475009" cy="475009"/>
          </a:xfrm>
          <a:custGeom>
            <a:avLst/>
            <a:gdLst/>
            <a:ahLst/>
            <a:cxnLst/>
            <a:rect l="l" t="t" r="r" b="b"/>
            <a:pathLst>
              <a:path w="475009" h="475009">
                <a:moveTo>
                  <a:pt x="0" y="0"/>
                </a:moveTo>
                <a:lnTo>
                  <a:pt x="475009" y="0"/>
                </a:lnTo>
                <a:lnTo>
                  <a:pt x="475009" y="475009"/>
                </a:lnTo>
                <a:lnTo>
                  <a:pt x="0" y="4750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E7E47A7-148D-E8B3-85A7-37C3ABEC54C6}"/>
              </a:ext>
            </a:extLst>
          </p:cNvPr>
          <p:cNvSpPr/>
          <p:nvPr/>
        </p:nvSpPr>
        <p:spPr>
          <a:xfrm>
            <a:off x="-1104900" y="2621180"/>
            <a:ext cx="4017831" cy="701294"/>
          </a:xfrm>
          <a:custGeom>
            <a:avLst/>
            <a:gdLst/>
            <a:ahLst/>
            <a:cxnLst/>
            <a:rect l="l" t="t" r="r" b="b"/>
            <a:pathLst>
              <a:path w="4017831" h="701294">
                <a:moveTo>
                  <a:pt x="0" y="0"/>
                </a:moveTo>
                <a:lnTo>
                  <a:pt x="4017831" y="0"/>
                </a:lnTo>
                <a:lnTo>
                  <a:pt x="4017831" y="701294"/>
                </a:lnTo>
                <a:lnTo>
                  <a:pt x="0" y="7012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B589EFC-844E-5CF5-92D9-B64CF53E1A06}"/>
              </a:ext>
            </a:extLst>
          </p:cNvPr>
          <p:cNvSpPr txBox="1"/>
          <p:nvPr/>
        </p:nvSpPr>
        <p:spPr>
          <a:xfrm>
            <a:off x="16070360" y="8863664"/>
            <a:ext cx="1188940" cy="30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2487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77" b="0" i="0" u="none" strike="noStrike" kern="1200" cap="none" spc="-81" normalizeH="0" baseline="0" noProof="0" dirty="0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015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84B5A59-61D3-FB01-5FEC-065531F88234}"/>
              </a:ext>
            </a:extLst>
          </p:cNvPr>
          <p:cNvSpPr txBox="1"/>
          <p:nvPr/>
        </p:nvSpPr>
        <p:spPr>
          <a:xfrm>
            <a:off x="5876417" y="1866900"/>
            <a:ext cx="6535166" cy="1070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870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217" b="1" i="0" u="none" strike="noStrike" kern="1200" cap="none" spc="-285" normalizeH="0" baseline="0" noProof="0" dirty="0" err="1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 Bold"/>
                <a:ea typeface="Garet Bold"/>
                <a:cs typeface="Garet Bold"/>
                <a:sym typeface="Garet Bold"/>
              </a:rPr>
              <a:t>Zaklju</a:t>
            </a:r>
            <a:r>
              <a:rPr kumimoji="0" lang="sr-Latn-RS" sz="6217" b="1" i="0" u="none" strike="noStrike" kern="1200" cap="none" spc="-285" normalizeH="0" baseline="0" noProof="0" dirty="0">
                <a:ln>
                  <a:noFill/>
                </a:ln>
                <a:solidFill>
                  <a:srgbClr val="EBF5FE"/>
                </a:solidFill>
                <a:effectLst/>
                <a:uLnTx/>
                <a:uFillTx/>
                <a:latin typeface="Garet Bold"/>
                <a:ea typeface="Garet Bold"/>
                <a:cs typeface="Garet Bold"/>
                <a:sym typeface="Garet Bold"/>
              </a:rPr>
              <a:t>čak</a:t>
            </a:r>
            <a:endParaRPr kumimoji="0" lang="en-US" sz="6217" b="1" i="0" u="none" strike="noStrike" kern="1200" cap="none" spc="-285" normalizeH="0" baseline="0" noProof="0" dirty="0">
              <a:ln>
                <a:noFill/>
              </a:ln>
              <a:solidFill>
                <a:srgbClr val="EBF5FE"/>
              </a:solidFill>
              <a:effectLst/>
              <a:uLnTx/>
              <a:uFillTx/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E4DA9A7-FBF8-C974-97DF-87F77C702985}"/>
              </a:ext>
            </a:extLst>
          </p:cNvPr>
          <p:cNvSpPr txBox="1"/>
          <p:nvPr/>
        </p:nvSpPr>
        <p:spPr>
          <a:xfrm>
            <a:off x="2679860" y="3576116"/>
            <a:ext cx="12928280" cy="56015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Uspešna</a:t>
            </a:r>
            <a:r>
              <a:rPr kumimoji="0" lang="en-US" sz="2800" b="1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b="1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integracija</a:t>
            </a:r>
            <a:r>
              <a:rPr kumimoji="0" lang="en-US" sz="2800" b="1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: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Implementiran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robustan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sistem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za monitoring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procesa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unutar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Linux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kernela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6.18.9, koji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pruža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dubok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uvid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u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korišćenje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sistemskih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resursa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.</a:t>
            </a:r>
            <a:endParaRPr kumimoji="0" lang="sr-Latn-RS" sz="2800" i="0" u="none" strike="noStrike" kern="1200" cap="none" spc="-78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et"/>
              <a:ea typeface="Garet"/>
              <a:cs typeface="Garet"/>
              <a:sym typeface="Garet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Dualni</a:t>
            </a:r>
            <a:r>
              <a:rPr kumimoji="0" lang="en-US" sz="2800" b="1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b="1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pristup</a:t>
            </a:r>
            <a:r>
              <a:rPr kumimoji="0" lang="en-US" sz="2800" b="1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(</a:t>
            </a:r>
            <a:r>
              <a:rPr kumimoji="0" lang="en-US" sz="2800" b="1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Syscall</a:t>
            </a:r>
            <a:r>
              <a:rPr kumimoji="0" lang="en-US" sz="2800" b="1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vs. LKM):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Kroz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projekat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dokazana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prednost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obe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metode</a:t>
            </a:r>
            <a:r>
              <a:rPr kumimoji="0" lang="sr-Latn-R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-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sistemski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poziv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kao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fiksni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deo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jezgra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i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modul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kao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fleksibilno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rešenje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za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dinamičko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proširenje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funkcionalnosti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.</a:t>
            </a:r>
            <a:endParaRPr kumimoji="0" lang="sr-Latn-RS" sz="2800" i="0" u="none" strike="noStrike" kern="1200" cap="none" spc="-78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et"/>
              <a:ea typeface="Garet"/>
              <a:cs typeface="Garet"/>
              <a:sym typeface="Garet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Preciznost</a:t>
            </a:r>
            <a:r>
              <a:rPr kumimoji="0" lang="en-US" sz="2800" b="1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b="1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podataka</a:t>
            </a:r>
            <a:r>
              <a:rPr kumimoji="0" lang="en-US" sz="2800" b="1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: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Upotrebom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1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inode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identifikacije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postignuta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maksimalna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preciznost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u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praćenju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,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nezavisno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od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imena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ili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putanje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fajla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,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dok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je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ekstrakcija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metapodataka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iz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1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task_struct</a:t>
            </a:r>
            <a:r>
              <a:rPr kumimoji="0" lang="en-US" sz="2800" i="1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pružila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kompletan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profil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procesa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(CPU, RAM,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vlasništvo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).</a:t>
            </a:r>
            <a:endParaRPr kumimoji="0" lang="sr-Latn-RS" sz="2800" i="0" u="none" strike="noStrike" kern="1200" cap="none" spc="-78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et"/>
              <a:ea typeface="Garet"/>
              <a:cs typeface="Garet"/>
              <a:sym typeface="Garet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Finalni</a:t>
            </a:r>
            <a:r>
              <a:rPr kumimoji="0" lang="en-US" sz="2800" b="1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b="1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ishod</a:t>
            </a:r>
            <a:r>
              <a:rPr kumimoji="0" lang="en-US" sz="2800" b="1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: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Projekat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predstavlja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zaokruženu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celinu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koja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povezuje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teorijsko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poznavanje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arhitekture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operativnih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sistema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sa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praktičnim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veštinama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 kernel </a:t>
            </a:r>
            <a:r>
              <a:rPr kumimoji="0" lang="en-US" sz="2800" i="0" u="none" strike="noStrike" kern="1200" cap="none" spc="-78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programiranja</a:t>
            </a:r>
            <a:r>
              <a:rPr kumimoji="0" lang="en-US" sz="2800" i="0" u="none" strike="noStrike" kern="1200" cap="none" spc="-78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et"/>
                <a:ea typeface="Garet"/>
                <a:cs typeface="Garet"/>
                <a:sym typeface="Garet"/>
              </a:rPr>
              <a:t>.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34D12DCB-6562-A2D1-F8D7-CA229F27815E}"/>
              </a:ext>
            </a:extLst>
          </p:cNvPr>
          <p:cNvPicPr>
            <a:picLocks/>
          </p:cNvPicPr>
          <p:nvPr/>
        </p:nvPicPr>
        <p:blipFill>
          <a:blip r:embed="rId6" cstate="print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48576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284FF">
                <a:alpha val="100000"/>
              </a:srgbClr>
            </a:gs>
            <a:gs pos="100000">
              <a:srgbClr val="000422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0407285">
            <a:off x="3958143" y="-42357"/>
            <a:ext cx="10371714" cy="10371714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9FCDFF">
                    <a:alpha val="0"/>
                  </a:srgbClr>
                </a:gs>
                <a:gs pos="100000">
                  <a:srgbClr val="3964CD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0407285">
            <a:off x="5363810" y="1434956"/>
            <a:ext cx="7560380" cy="756038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9FCDFF">
                    <a:alpha val="0"/>
                  </a:srgbClr>
                </a:gs>
                <a:gs pos="100000">
                  <a:srgbClr val="3964CD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326468" y="3317647"/>
            <a:ext cx="7690481" cy="3651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469"/>
              </a:lnSpc>
              <a:spcBef>
                <a:spcPct val="0"/>
              </a:spcBef>
            </a:pPr>
            <a:r>
              <a:rPr lang="sr-Latn-RS" sz="10335" b="1" spc="-475" dirty="0">
                <a:solidFill>
                  <a:srgbClr val="EBF5FE"/>
                </a:solidFill>
                <a:latin typeface="Garet Bold"/>
                <a:ea typeface="Garet Bold"/>
                <a:cs typeface="Garet Bold"/>
                <a:sym typeface="Garet Bold"/>
              </a:rPr>
              <a:t>Hvala na pažnji!</a:t>
            </a:r>
            <a:endParaRPr lang="en-US" sz="10335" b="1" spc="-475" dirty="0">
              <a:solidFill>
                <a:srgbClr val="EBF5FE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28F322-22AD-E4FF-9B1F-818BD324FF0E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720" y="692127"/>
            <a:ext cx="924786" cy="8946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1183</Words>
  <Application>Microsoft Office PowerPoint</Application>
  <PresentationFormat>Custom</PresentationFormat>
  <Paragraphs>136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Garet</vt:lpstr>
      <vt:lpstr>Garet Bold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Navy Gradient Futuristic Computer Science Presentation</dc:title>
  <cp:lastModifiedBy>Aleksandar DJordjevic</cp:lastModifiedBy>
  <cp:revision>9</cp:revision>
  <dcterms:created xsi:type="dcterms:W3CDTF">2006-08-16T00:00:00Z</dcterms:created>
  <dcterms:modified xsi:type="dcterms:W3CDTF">2026-02-20T02:27:42Z</dcterms:modified>
  <dc:identifier>DAHBydYRNlE</dc:identifier>
</cp:coreProperties>
</file>