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9" r:id="rId13"/>
    <p:sldId id="270" r:id="rId14"/>
    <p:sldId id="266" r:id="rId15"/>
    <p:sldId id="271" r:id="rId16"/>
    <p:sldId id="267" r:id="rId17"/>
  </p:sldIdLst>
  <p:sldSz cx="18288000" cy="10287000"/>
  <p:notesSz cx="6858000" cy="9144000"/>
  <p:embeddedFontLst>
    <p:embeddedFont>
      <p:font typeface="Garet" panose="020B0604020202020204" charset="0"/>
      <p:regular r:id="rId18"/>
    </p:embeddedFont>
    <p:embeddedFont>
      <p:font typeface="Garet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622" autoAdjust="0"/>
  </p:normalViewPr>
  <p:slideViewPr>
    <p:cSldViewPr>
      <p:cViewPr varScale="1">
        <p:scale>
          <a:sx n="69" d="100"/>
          <a:sy n="69" d="100"/>
        </p:scale>
        <p:origin x="79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microsoft.com/office/2007/relationships/hdphoto" Target="../media/hdphoto1.wdp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7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svg"/><Relationship Id="rId7" Type="http://schemas.microsoft.com/office/2007/relationships/hdphoto" Target="../media/hdphoto2.wdp"/><Relationship Id="rId12" Type="http://schemas.openxmlformats.org/officeDocument/2006/relationships/hyperlink" Target="https://github.com/SukiDj/Linux-Kernel-Process-Monitor" TargetMode="Externa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microsoft.com/office/2007/relationships/hdphoto" Target="../media/hdphoto4.wdp"/><Relationship Id="rId5" Type="http://schemas.microsoft.com/office/2007/relationships/hdphoto" Target="../media/hdphoto1.wdp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e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65300" y="-84714"/>
            <a:ext cx="10371714" cy="1037171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076817" y="898757"/>
            <a:ext cx="6372983" cy="8896297"/>
          </a:xfrm>
          <a:custGeom>
            <a:avLst/>
            <a:gdLst/>
            <a:ahLst/>
            <a:cxnLst/>
            <a:rect l="l" t="t" r="r" b="b"/>
            <a:pathLst>
              <a:path w="6372983" h="8896297">
                <a:moveTo>
                  <a:pt x="0" y="0"/>
                </a:moveTo>
                <a:lnTo>
                  <a:pt x="6372983" y="0"/>
                </a:lnTo>
                <a:lnTo>
                  <a:pt x="6372983" y="8896297"/>
                </a:lnTo>
                <a:lnTo>
                  <a:pt x="0" y="88962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 rot="10407285">
            <a:off x="-5710435" y="-188170"/>
            <a:ext cx="10371714" cy="1037171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940833" y="4782676"/>
            <a:ext cx="636934" cy="636934"/>
          </a:xfrm>
          <a:custGeom>
            <a:avLst/>
            <a:gdLst/>
            <a:ahLst/>
            <a:cxnLst/>
            <a:rect l="l" t="t" r="r" b="b"/>
            <a:pathLst>
              <a:path w="636934" h="636934">
                <a:moveTo>
                  <a:pt x="0" y="0"/>
                </a:moveTo>
                <a:lnTo>
                  <a:pt x="636934" y="0"/>
                </a:lnTo>
                <a:lnTo>
                  <a:pt x="636934" y="636934"/>
                </a:lnTo>
                <a:lnTo>
                  <a:pt x="0" y="636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838200" y="2565127"/>
            <a:ext cx="10237895" cy="2654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6000" b="1" spc="-475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Modifikacija</a:t>
            </a:r>
            <a:r>
              <a:rPr lang="en-US" sz="6000" b="1" spc="-475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i rebuild-</a:t>
            </a:r>
            <a:r>
              <a:rPr lang="en-US" sz="6000" b="1" spc="-475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ovanje</a:t>
            </a:r>
            <a:r>
              <a:rPr lang="en-US" sz="6000" b="1" spc="-475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Linux kernela</a:t>
            </a:r>
            <a:r>
              <a:rPr lang="sr-Latn-RS" sz="6000" b="1" spc="-475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(v6.18.9)</a:t>
            </a:r>
            <a:endParaRPr lang="en-US" sz="6000" b="1" spc="-475" dirty="0">
              <a:solidFill>
                <a:srgbClr val="EBF5FE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37478" y="5621622"/>
            <a:ext cx="7690481" cy="1579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469"/>
              </a:lnSpc>
              <a:spcBef>
                <a:spcPct val="0"/>
              </a:spcBef>
            </a:pPr>
            <a:r>
              <a:rPr lang="en-US" sz="4400" spc="-475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Projekat</a:t>
            </a:r>
            <a:r>
              <a:rPr lang="en-US" sz="4400" spc="-475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sr-Latn-RS" sz="4400" spc="-475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4400" spc="-475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1 - 2025/26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83433" y="927215"/>
            <a:ext cx="4696002" cy="4438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51"/>
              </a:lnSpc>
              <a:spcBef>
                <a:spcPct val="0"/>
              </a:spcBef>
            </a:pPr>
            <a:r>
              <a:rPr lang="en-US" sz="2536" spc="-116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Elektronski</a:t>
            </a:r>
            <a:r>
              <a:rPr lang="en-US" sz="2536" spc="-116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536" spc="-116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fakultet</a:t>
            </a:r>
            <a:r>
              <a:rPr lang="en-US" sz="2536" spc="-116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u Ni</a:t>
            </a:r>
            <a:r>
              <a:rPr lang="sr-Latn-RS" sz="2536" spc="-116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šu</a:t>
            </a:r>
            <a:endParaRPr lang="en-US" sz="2536" spc="-116" dirty="0">
              <a:solidFill>
                <a:srgbClr val="EBF5FE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37478" y="8711869"/>
            <a:ext cx="4132080" cy="755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1"/>
              </a:lnSpc>
              <a:spcBef>
                <a:spcPct val="0"/>
              </a:spcBef>
            </a:pPr>
            <a:r>
              <a:rPr lang="sr-Latn-RS" sz="2136" b="1" spc="-98" dirty="0">
                <a:solidFill>
                  <a:schemeClr val="bg1"/>
                </a:solidFill>
                <a:latin typeface="Garet Bold"/>
                <a:ea typeface="Garet Bold"/>
                <a:cs typeface="Garet Bold"/>
                <a:sym typeface="Garet Bold"/>
              </a:rPr>
              <a:t>Napredni operativni sistemi</a:t>
            </a:r>
          </a:p>
          <a:p>
            <a:pPr algn="l">
              <a:lnSpc>
                <a:spcPts val="2991"/>
              </a:lnSpc>
              <a:spcBef>
                <a:spcPct val="0"/>
              </a:spcBef>
            </a:pPr>
            <a:r>
              <a:rPr lang="sr-Latn-RS" sz="2136" b="1" spc="-98" dirty="0">
                <a:solidFill>
                  <a:schemeClr val="bg1"/>
                </a:solidFill>
                <a:latin typeface="Garet Bold"/>
                <a:ea typeface="Garet Bold"/>
                <a:cs typeface="Garet Bold"/>
                <a:sym typeface="Garet Bold"/>
              </a:rPr>
              <a:t>Đorđević Aleksandar 2147</a:t>
            </a:r>
            <a:endParaRPr lang="en-US" sz="2136" b="1" spc="-98" dirty="0">
              <a:solidFill>
                <a:schemeClr val="bg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8B950A6-92E3-E9FB-4D78-35A023E1BAA2}"/>
              </a:ext>
            </a:extLst>
          </p:cNvPr>
          <p:cNvPicPr>
            <a:picLocks/>
          </p:cNvPicPr>
          <p:nvPr/>
        </p:nvPicPr>
        <p:blipFill>
          <a:blip r:embed="rId4" cstate="print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008" b="96241" l="4478" r="96269">
                        <a14:foregroundMark x1="28358" y1="14286" x2="32836" y2="17293"/>
                        <a14:foregroundMark x1="29104" y1="15038" x2="13433" y2="30075"/>
                        <a14:foregroundMark x1="7463" y1="39098" x2="17164" y2="75940"/>
                        <a14:foregroundMark x1="29851" y1="87970" x2="78358" y2="75940"/>
                        <a14:foregroundMark x1="65490" y1="90381" x2="71642" y2="90977"/>
                        <a14:foregroundMark x1="32836" y1="87218" x2="53981" y2="89267"/>
                        <a14:foregroundMark x1="55823" y1="91815" x2="34328" y2="88722"/>
                        <a14:foregroundMark x1="80597" y1="27068" x2="90299" y2="69173"/>
                        <a14:foregroundMark x1="88806" y1="42105" x2="90299" y2="60150"/>
                        <a14:foregroundMark x1="91045" y1="40602" x2="91045" y2="65414"/>
                        <a14:foregroundMark x1="62687" y1="12782" x2="40299" y2="5263"/>
                        <a14:foregroundMark x1="30597" y1="87218" x2="58872" y2="96035"/>
                        <a14:foregroundMark x1="90299" y1="40602" x2="94776" y2="57143"/>
                        <a14:foregroundMark x1="7463" y1="39098" x2="4478" y2="57143"/>
                        <a14:foregroundMark x1="91791" y1="42857" x2="96269" y2="51880"/>
                        <a14:backgroundMark x1="61194" y1="99248" x2="61194" y2="99248"/>
                        <a14:backgroundMark x1="70896" y1="97744" x2="64179" y2="99248"/>
                        <a14:backgroundMark x1="64925" y1="98496" x2="61194" y2="992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791" y="819668"/>
            <a:ext cx="682716" cy="66348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4291" y="456188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104900" y="2621180"/>
            <a:ext cx="4017831" cy="701294"/>
          </a:xfrm>
          <a:custGeom>
            <a:avLst/>
            <a:gdLst/>
            <a:ahLst/>
            <a:cxnLst/>
            <a:rect l="l" t="t" r="r" b="b"/>
            <a:pathLst>
              <a:path w="4017831" h="701294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5250385" y="7709520"/>
            <a:ext cx="4017831" cy="701294"/>
          </a:xfrm>
          <a:custGeom>
            <a:avLst/>
            <a:gdLst/>
            <a:ahLst/>
            <a:cxnLst/>
            <a:rect l="l" t="t" r="r" b="b"/>
            <a:pathLst>
              <a:path w="4017831" h="701294">
                <a:moveTo>
                  <a:pt x="0" y="0"/>
                </a:moveTo>
                <a:lnTo>
                  <a:pt x="4017830" y="0"/>
                </a:lnTo>
                <a:lnTo>
                  <a:pt x="4017830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219233" y="1410919"/>
            <a:ext cx="4444454" cy="2230308"/>
          </a:xfrm>
          <a:custGeom>
            <a:avLst/>
            <a:gdLst/>
            <a:ahLst/>
            <a:cxnLst/>
            <a:rect l="l" t="t" r="r" b="b"/>
            <a:pathLst>
              <a:path w="4444454" h="2230308">
                <a:moveTo>
                  <a:pt x="0" y="0"/>
                </a:moveTo>
                <a:lnTo>
                  <a:pt x="4444454" y="0"/>
                </a:lnTo>
                <a:lnTo>
                  <a:pt x="4444454" y="2230308"/>
                </a:lnTo>
                <a:lnTo>
                  <a:pt x="0" y="22303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6070360" y="8863664"/>
            <a:ext cx="1188940" cy="308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87"/>
              </a:lnSpc>
              <a:spcBef>
                <a:spcPct val="0"/>
              </a:spcBef>
            </a:pPr>
            <a:r>
              <a:rPr lang="en-US" sz="1777" spc="-81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002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18985" y="1514936"/>
            <a:ext cx="4626067" cy="1065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03"/>
              </a:lnSpc>
              <a:spcBef>
                <a:spcPct val="0"/>
              </a:spcBef>
            </a:pPr>
            <a:r>
              <a:rPr lang="en-US" sz="6217" spc="-285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Cilj</a:t>
            </a:r>
            <a:r>
              <a:rPr lang="en-US" sz="6217" spc="-285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i </a:t>
            </a:r>
            <a:r>
              <a:rPr lang="en-US" sz="6217" spc="-285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zahtevi</a:t>
            </a:r>
            <a:endParaRPr lang="en-US" sz="6217" spc="-285" dirty="0">
              <a:solidFill>
                <a:srgbClr val="EBF5FE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742948" y="2281812"/>
            <a:ext cx="4626067" cy="1065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03"/>
              </a:lnSpc>
              <a:spcBef>
                <a:spcPct val="0"/>
              </a:spcBef>
            </a:pPr>
            <a:r>
              <a:rPr lang="en-US" sz="6217" b="1" spc="-285" dirty="0" err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projekta</a:t>
            </a:r>
            <a:endParaRPr lang="en-US" sz="6217" b="1" spc="-285" dirty="0">
              <a:solidFill>
                <a:srgbClr val="EBF5FE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66800" y="4542613"/>
            <a:ext cx="6705600" cy="3447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Glavni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cilj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  <a:endParaRPr lang="sr-Latn-RS" sz="2800" b="1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Implementacija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mehanizma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za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identifikaciju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svih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aktivnih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procesa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koji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koriste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specifičnu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datoteku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  <a:endParaRPr lang="sr-Latn-RS" sz="2800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>
              <a:spcBef>
                <a:spcPct val="0"/>
              </a:spcBef>
            </a:pPr>
            <a:endParaRPr lang="sr-Latn-RS" sz="2800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>
              <a:spcBef>
                <a:spcPct val="0"/>
              </a:spcBef>
            </a:pP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Zahtevi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  <a:endParaRPr lang="sr-Latn-RS" sz="2800" b="1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Modifikacija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izvornog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koda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Linux kernela 6.18.9.</a:t>
            </a:r>
            <a:endParaRPr lang="sr-Latn-RS" sz="2800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144000" y="4542115"/>
            <a:ext cx="6926360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Implementacija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funkcionalnosti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na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dva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načina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  <a:endParaRPr lang="sr-Latn-RS" sz="2800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 marL="971550" lvl="1" indent="-514350">
              <a:spcBef>
                <a:spcPct val="0"/>
              </a:spcBef>
              <a:buFont typeface="+mj-lt"/>
              <a:buAutoNum type="arabicPeriod"/>
            </a:pP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Novi </a:t>
            </a: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sistemski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poziv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(System Call) —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integralni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deo kernela.</a:t>
            </a:r>
            <a:endParaRPr lang="sr-Latn-RS" sz="2800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 marL="971550" lvl="1" indent="-514350">
              <a:spcBef>
                <a:spcPct val="0"/>
              </a:spcBef>
              <a:buFont typeface="+mj-lt"/>
              <a:buAutoNum type="arabicPeriod"/>
            </a:pP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Kernel </a:t>
            </a: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modul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(LKM) —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dinamičko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proširenje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jezgra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  <a:endParaRPr lang="sr-Latn-RS" sz="2800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Izlaz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Detaljan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izveštaj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iz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task_struct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(PID, PPID, UID,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memorija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vreme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izvršenja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niti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).</a:t>
            </a:r>
          </a:p>
        </p:txBody>
      </p:sp>
      <p:sp>
        <p:nvSpPr>
          <p:cNvPr id="11" name="Freeform 11"/>
          <p:cNvSpPr/>
          <p:nvPr/>
        </p:nvSpPr>
        <p:spPr>
          <a:xfrm flipH="1">
            <a:off x="-495207" y="1410919"/>
            <a:ext cx="4444454" cy="2230308"/>
          </a:xfrm>
          <a:custGeom>
            <a:avLst/>
            <a:gdLst/>
            <a:ahLst/>
            <a:cxnLst/>
            <a:rect l="l" t="t" r="r" b="b"/>
            <a:pathLst>
              <a:path w="4444454" h="2230308">
                <a:moveTo>
                  <a:pt x="4444454" y="0"/>
                </a:moveTo>
                <a:lnTo>
                  <a:pt x="0" y="0"/>
                </a:lnTo>
                <a:lnTo>
                  <a:pt x="0" y="2230308"/>
                </a:lnTo>
                <a:lnTo>
                  <a:pt x="4444454" y="2230308"/>
                </a:lnTo>
                <a:lnTo>
                  <a:pt x="44444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A7BA757-E6AE-889C-F5EA-90D4110CA018}"/>
              </a:ext>
            </a:extLst>
          </p:cNvPr>
          <p:cNvPicPr>
            <a:picLocks/>
          </p:cNvPicPr>
          <p:nvPr/>
        </p:nvPicPr>
        <p:blipFill>
          <a:blip r:embed="rId5" cstate="print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008" b="96241" l="4478" r="96269">
                        <a14:foregroundMark x1="28358" y1="14286" x2="32836" y2="17293"/>
                        <a14:foregroundMark x1="29104" y1="15038" x2="13433" y2="30075"/>
                        <a14:foregroundMark x1="7463" y1="39098" x2="17164" y2="75940"/>
                        <a14:foregroundMark x1="29851" y1="87970" x2="78358" y2="75940"/>
                        <a14:foregroundMark x1="65490" y1="90381" x2="71642" y2="90977"/>
                        <a14:foregroundMark x1="32836" y1="87218" x2="53981" y2="89267"/>
                        <a14:foregroundMark x1="55823" y1="91815" x2="34328" y2="88722"/>
                        <a14:foregroundMark x1="80597" y1="27068" x2="90299" y2="69173"/>
                        <a14:foregroundMark x1="88806" y1="42105" x2="90299" y2="60150"/>
                        <a14:foregroundMark x1="91045" y1="40602" x2="91045" y2="65414"/>
                        <a14:foregroundMark x1="62687" y1="12782" x2="40299" y2="5263"/>
                        <a14:foregroundMark x1="30597" y1="87218" x2="58872" y2="96035"/>
                        <a14:foregroundMark x1="90299" y1="40602" x2="94776" y2="57143"/>
                        <a14:foregroundMark x1="7463" y1="39098" x2="4478" y2="57143"/>
                        <a14:foregroundMark x1="91791" y1="42857" x2="96269" y2="51880"/>
                        <a14:backgroundMark x1="61194" y1="99248" x2="61194" y2="99248"/>
                        <a14:backgroundMark x1="70896" y1="97744" x2="64179" y2="99248"/>
                        <a14:backgroundMark x1="64925" y1="98496" x2="61194" y2="992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1607" y="246373"/>
            <a:ext cx="924786" cy="8946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2668250" y="2628900"/>
            <a:ext cx="5467350" cy="7246191"/>
          </a:xfrm>
          <a:custGeom>
            <a:avLst/>
            <a:gdLst/>
            <a:ahLst/>
            <a:cxnLst/>
            <a:rect l="l" t="t" r="r" b="b"/>
            <a:pathLst>
              <a:path w="7039565" h="8983203">
                <a:moveTo>
                  <a:pt x="0" y="0"/>
                </a:moveTo>
                <a:lnTo>
                  <a:pt x="7039565" y="0"/>
                </a:lnTo>
                <a:lnTo>
                  <a:pt x="7039565" y="8983203"/>
                </a:lnTo>
                <a:lnTo>
                  <a:pt x="0" y="89832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1104900" y="2621180"/>
            <a:ext cx="4017831" cy="701294"/>
          </a:xfrm>
          <a:custGeom>
            <a:avLst/>
            <a:gdLst/>
            <a:ahLst/>
            <a:cxnLst/>
            <a:rect l="l" t="t" r="r" b="b"/>
            <a:pathLst>
              <a:path w="4017831" h="701294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925766" y="5871473"/>
            <a:ext cx="2667067" cy="1450478"/>
          </a:xfrm>
          <a:custGeom>
            <a:avLst/>
            <a:gdLst/>
            <a:ahLst/>
            <a:cxnLst/>
            <a:rect l="l" t="t" r="r" b="b"/>
            <a:pathLst>
              <a:path w="3434020" h="1798178">
                <a:moveTo>
                  <a:pt x="0" y="0"/>
                </a:moveTo>
                <a:lnTo>
                  <a:pt x="3434020" y="0"/>
                </a:lnTo>
                <a:lnTo>
                  <a:pt x="3434020" y="1798178"/>
                </a:lnTo>
                <a:lnTo>
                  <a:pt x="0" y="17981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6070360" y="8863664"/>
            <a:ext cx="1188940" cy="308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87"/>
              </a:lnSpc>
              <a:spcBef>
                <a:spcPct val="0"/>
              </a:spcBef>
            </a:pPr>
            <a:r>
              <a:rPr lang="en-US" sz="1777" spc="-81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003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1485900"/>
            <a:ext cx="9093380" cy="1258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sz="6220" spc="-347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Teorijska</a:t>
            </a:r>
            <a:r>
              <a:rPr lang="en-US" sz="6220" spc="-347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6220" spc="-347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osnova</a:t>
            </a:r>
            <a:r>
              <a:rPr lang="en-US" sz="6220" spc="-347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400" y="2524997"/>
            <a:ext cx="10998380" cy="1258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sz="6220" b="1" spc="-347" dirty="0" err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Upravljanje</a:t>
            </a:r>
            <a:r>
              <a:rPr lang="en-US" sz="6220" b="1" spc="-347" dirty="0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6220" b="1" spc="-347" dirty="0" err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procesima</a:t>
            </a:r>
            <a:endParaRPr lang="en-US" sz="6220" b="1" spc="-347" dirty="0">
              <a:solidFill>
                <a:srgbClr val="EBF5FE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3411133" y="2552700"/>
            <a:ext cx="2667067" cy="1450478"/>
          </a:xfrm>
          <a:custGeom>
            <a:avLst/>
            <a:gdLst/>
            <a:ahLst/>
            <a:cxnLst/>
            <a:rect l="l" t="t" r="r" b="b"/>
            <a:pathLst>
              <a:path w="3434020" h="1798178">
                <a:moveTo>
                  <a:pt x="0" y="0"/>
                </a:moveTo>
                <a:lnTo>
                  <a:pt x="3434020" y="0"/>
                </a:lnTo>
                <a:lnTo>
                  <a:pt x="3434020" y="1798178"/>
                </a:lnTo>
                <a:lnTo>
                  <a:pt x="0" y="17981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4" name="TextBox 14"/>
          <p:cNvSpPr txBox="1"/>
          <p:nvPr/>
        </p:nvSpPr>
        <p:spPr>
          <a:xfrm>
            <a:off x="914399" y="4366141"/>
            <a:ext cx="11296617" cy="5170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b="1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task_struct</a:t>
            </a:r>
            <a:r>
              <a:rPr lang="en-US" sz="2800" b="1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sr-Latn-RS" sz="2800" i="1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Osnovna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jedinica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u Linux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kernelu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. </a:t>
            </a:r>
            <a:endParaRPr lang="sr-Latn-RS" sz="2800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Svaki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proces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je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predstavljen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ovom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strukturom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(process descriptor).</a:t>
            </a:r>
            <a:endParaRPr lang="sr-Latn-RS" sz="2800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>
              <a:spcBef>
                <a:spcPct val="0"/>
              </a:spcBef>
            </a:pP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Lista </a:t>
            </a: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procesa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endParaRPr lang="sr-Latn-RS" sz="2800" b="1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Svi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deskriptori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procesa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čuvaju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se u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kružnoj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dvostruko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povezanoj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listi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  <a:endParaRPr lang="sr-Latn-RS" sz="2800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>
              <a:spcBef>
                <a:spcPct val="0"/>
              </a:spcBef>
            </a:pP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Korišćena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polja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za </a:t>
            </a: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analizu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  <a:endParaRPr lang="sr-Latn-RS" sz="2800" b="1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pid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i </a:t>
            </a: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real_parent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-&gt;</a:t>
            </a: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pid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(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hijerarhija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).</a:t>
            </a:r>
            <a:endParaRPr lang="sr-Latn-RS" sz="2800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cred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(UID i GID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vlasnika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).</a:t>
            </a:r>
            <a:endParaRPr lang="sr-Latn-RS" sz="2800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utime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i </a:t>
            </a: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stime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(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akumulirano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CPU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vreme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u user i kernel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režimu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).</a:t>
            </a:r>
            <a:endParaRPr lang="sr-Latn-RS" sz="2800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mm_struct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(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informacije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o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rezidentnoj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memoriji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— RSS).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77F5ACF-85D7-5CFE-2A47-DD9A2B6F642A}"/>
              </a:ext>
            </a:extLst>
          </p:cNvPr>
          <p:cNvPicPr>
            <a:picLocks/>
          </p:cNvPicPr>
          <p:nvPr/>
        </p:nvPicPr>
        <p:blipFill>
          <a:blip r:embed="rId6" cstate="print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008" b="96241" l="4478" r="96269">
                        <a14:foregroundMark x1="28358" y1="14286" x2="32836" y2="17293"/>
                        <a14:foregroundMark x1="29104" y1="15038" x2="13433" y2="30075"/>
                        <a14:foregroundMark x1="7463" y1="39098" x2="17164" y2="75940"/>
                        <a14:foregroundMark x1="29851" y1="87970" x2="78358" y2="75940"/>
                        <a14:foregroundMark x1="65490" y1="90381" x2="71642" y2="90977"/>
                        <a14:foregroundMark x1="32836" y1="87218" x2="53981" y2="89267"/>
                        <a14:foregroundMark x1="55823" y1="91815" x2="34328" y2="88722"/>
                        <a14:foregroundMark x1="80597" y1="27068" x2="90299" y2="69173"/>
                        <a14:foregroundMark x1="88806" y1="42105" x2="90299" y2="60150"/>
                        <a14:foregroundMark x1="91045" y1="40602" x2="91045" y2="65414"/>
                        <a14:foregroundMark x1="62687" y1="12782" x2="40299" y2="5263"/>
                        <a14:foregroundMark x1="30597" y1="87218" x2="58872" y2="96035"/>
                        <a14:foregroundMark x1="90299" y1="40602" x2="94776" y2="57143"/>
                        <a14:foregroundMark x1="7463" y1="39098" x2="4478" y2="57143"/>
                        <a14:foregroundMark x1="91791" y1="42857" x2="96269" y2="51880"/>
                        <a14:backgroundMark x1="61194" y1="99248" x2="61194" y2="99248"/>
                        <a14:backgroundMark x1="70896" y1="97744" x2="64179" y2="99248"/>
                        <a14:backgroundMark x1="64925" y1="98496" x2="61194" y2="992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20" y="692127"/>
            <a:ext cx="924786" cy="8946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0517729">
            <a:off x="-2903692" y="-84714"/>
            <a:ext cx="10371714" cy="1037171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6070360" y="8863664"/>
            <a:ext cx="1188940" cy="308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87"/>
              </a:lnSpc>
              <a:spcBef>
                <a:spcPct val="0"/>
              </a:spcBef>
            </a:pPr>
            <a:r>
              <a:rPr lang="en-US" sz="1777" spc="-81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004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04868" y="1503281"/>
            <a:ext cx="11573467" cy="1258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sz="6220" spc="-347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Veza </a:t>
            </a:r>
            <a:r>
              <a:rPr lang="en-US" sz="6220" spc="-347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procesa</a:t>
            </a:r>
            <a:r>
              <a:rPr lang="en-US" sz="6220" spc="-347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i </a:t>
            </a:r>
            <a:r>
              <a:rPr lang="en-US" sz="6220" spc="-347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datoteka</a:t>
            </a:r>
            <a:endParaRPr lang="en-US" sz="6220" spc="-347" dirty="0">
              <a:solidFill>
                <a:srgbClr val="EBF5FE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883096" y="2360694"/>
            <a:ext cx="9376203" cy="1258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sz="6220" b="1" spc="-347" dirty="0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(Files &amp; </a:t>
            </a:r>
            <a:r>
              <a:rPr lang="en-US" sz="6220" b="1" spc="-347" dirty="0" err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Inodes</a:t>
            </a:r>
            <a:r>
              <a:rPr lang="en-US" sz="6220" b="1" spc="-347" dirty="0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75880" y="4125719"/>
            <a:ext cx="9129662" cy="5170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Deskriptori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datoteka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endParaRPr lang="sr-Latn-RS" sz="2800" b="1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>
              <a:spcBef>
                <a:spcPct val="0"/>
              </a:spcBef>
            </a:pP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Svaki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proces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ima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polje files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koje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pokazuje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na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tabelu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otvorenih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deskriptora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(</a:t>
            </a: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fdtable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).</a:t>
            </a:r>
            <a:endParaRPr lang="sr-Latn-RS" sz="2800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>
              <a:spcBef>
                <a:spcPct val="0"/>
              </a:spcBef>
            </a:pP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Putanja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do </a:t>
            </a: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datoteke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endParaRPr lang="sr-Latn-RS" sz="2800" b="1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>
              <a:spcBef>
                <a:spcPct val="0"/>
              </a:spcBef>
            </a:pP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Za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potrebe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projekta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vrši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se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pretraga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po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putanji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ali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se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identifikacija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oslanja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na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Inode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broj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  <a:endParaRPr lang="sr-Latn-RS" sz="2800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>
              <a:spcBef>
                <a:spcPct val="0"/>
              </a:spcBef>
            </a:pP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Zašto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b="1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Inode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? </a:t>
            </a:r>
            <a:endParaRPr lang="sr-Latn-RS" sz="2800" b="1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>
              <a:spcBef>
                <a:spcPct val="0"/>
              </a:spcBef>
            </a:pP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Inode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je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jedinstveni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identifikator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datoteke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na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nivou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fajl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sistema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.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Poređenjem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Inode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-a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ciljane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datoteke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Inode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-ima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svih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otvorenih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fajlova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procesa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garantuje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se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preciznost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bez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obzira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na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simboličke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linkove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ili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različita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imena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istog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fajla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FEFFDA6-E8E8-02DE-10C1-2085D80EBADB}"/>
              </a:ext>
            </a:extLst>
          </p:cNvPr>
          <p:cNvPicPr>
            <a:picLocks/>
          </p:cNvPicPr>
          <p:nvPr/>
        </p:nvPicPr>
        <p:blipFill>
          <a:blip r:embed="rId3" cstate="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08" b="96241" l="4478" r="96269">
                        <a14:foregroundMark x1="28358" y1="14286" x2="32836" y2="17293"/>
                        <a14:foregroundMark x1="29104" y1="15038" x2="13433" y2="30075"/>
                        <a14:foregroundMark x1="7463" y1="39098" x2="17164" y2="75940"/>
                        <a14:foregroundMark x1="29851" y1="87970" x2="78358" y2="75940"/>
                        <a14:foregroundMark x1="65490" y1="90381" x2="71642" y2="90977"/>
                        <a14:foregroundMark x1="32836" y1="87218" x2="53981" y2="89267"/>
                        <a14:foregroundMark x1="55823" y1="91815" x2="34328" y2="88722"/>
                        <a14:foregroundMark x1="80597" y1="27068" x2="90299" y2="69173"/>
                        <a14:foregroundMark x1="88806" y1="42105" x2="90299" y2="60150"/>
                        <a14:foregroundMark x1="91045" y1="40602" x2="91045" y2="65414"/>
                        <a14:foregroundMark x1="62687" y1="12782" x2="40299" y2="5263"/>
                        <a14:foregroundMark x1="30597" y1="87218" x2="58872" y2="96035"/>
                        <a14:foregroundMark x1="90299" y1="40602" x2="94776" y2="57143"/>
                        <a14:foregroundMark x1="7463" y1="39098" x2="4478" y2="57143"/>
                        <a14:foregroundMark x1="91791" y1="42857" x2="96269" y2="51880"/>
                        <a14:backgroundMark x1="61194" y1="99248" x2="61194" y2="99248"/>
                        <a14:backgroundMark x1="70896" y1="97744" x2="64179" y2="99248"/>
                        <a14:backgroundMark x1="64925" y1="98496" x2="61194" y2="992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20" y="692127"/>
            <a:ext cx="924786" cy="894637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A46685-4B8B-FECF-9A56-FE0D8D870F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90600" y="2637590"/>
            <a:ext cx="9593260" cy="50118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665031" y="2621180"/>
            <a:ext cx="4017831" cy="701294"/>
          </a:xfrm>
          <a:custGeom>
            <a:avLst/>
            <a:gdLst/>
            <a:ahLst/>
            <a:cxnLst/>
            <a:rect l="l" t="t" r="r" b="b"/>
            <a:pathLst>
              <a:path w="4017831" h="701294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020800" y="2095500"/>
            <a:ext cx="4425708" cy="4191000"/>
          </a:xfrm>
          <a:custGeom>
            <a:avLst/>
            <a:gdLst/>
            <a:ahLst/>
            <a:cxnLst/>
            <a:rect l="l" t="t" r="r" b="b"/>
            <a:pathLst>
              <a:path w="5537286" h="6164995">
                <a:moveTo>
                  <a:pt x="0" y="0"/>
                </a:moveTo>
                <a:lnTo>
                  <a:pt x="5537286" y="0"/>
                </a:lnTo>
                <a:lnTo>
                  <a:pt x="5537286" y="6164995"/>
                </a:lnTo>
                <a:lnTo>
                  <a:pt x="0" y="61649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6070360" y="8863664"/>
            <a:ext cx="1188940" cy="308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87"/>
              </a:lnSpc>
              <a:spcBef>
                <a:spcPct val="0"/>
              </a:spcBef>
            </a:pPr>
            <a:r>
              <a:rPr lang="en-US" sz="1777" spc="-81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005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24514" y="901942"/>
            <a:ext cx="10492336" cy="2191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703"/>
              </a:lnSpc>
              <a:spcBef>
                <a:spcPct val="0"/>
              </a:spcBef>
            </a:pPr>
            <a:r>
              <a:rPr lang="en-US" sz="6217" spc="-285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Implementacija</a:t>
            </a:r>
            <a:r>
              <a:rPr lang="en-US" sz="6217" spc="-285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6217" spc="-285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sistemskog</a:t>
            </a:r>
            <a:r>
              <a:rPr lang="en-US" sz="6217" spc="-285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6217" spc="-285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poziva</a:t>
            </a:r>
            <a:endParaRPr lang="en-US" sz="6217" spc="-285" dirty="0">
              <a:solidFill>
                <a:srgbClr val="EBF5FE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466530" y="2014578"/>
            <a:ext cx="4626067" cy="1070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03"/>
              </a:lnSpc>
              <a:spcBef>
                <a:spcPct val="0"/>
              </a:spcBef>
            </a:pPr>
            <a:r>
              <a:rPr lang="en-US" sz="6217" b="1" spc="-285" dirty="0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(</a:t>
            </a:r>
            <a:r>
              <a:rPr lang="en-US" sz="6217" b="1" spc="-285" dirty="0" err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Syscall</a:t>
            </a:r>
            <a:r>
              <a:rPr lang="en-US" sz="6217" b="1" spc="-285" dirty="0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)</a:t>
            </a:r>
          </a:p>
        </p:txBody>
      </p:sp>
      <p:sp>
        <p:nvSpPr>
          <p:cNvPr id="12" name="Freeform 12"/>
          <p:cNvSpPr/>
          <p:nvPr/>
        </p:nvSpPr>
        <p:spPr>
          <a:xfrm flipH="1">
            <a:off x="-360229" y="4838700"/>
            <a:ext cx="4017829" cy="4343400"/>
          </a:xfrm>
          <a:custGeom>
            <a:avLst/>
            <a:gdLst/>
            <a:ahLst/>
            <a:cxnLst/>
            <a:rect l="l" t="t" r="r" b="b"/>
            <a:pathLst>
              <a:path w="5537286" h="6164995">
                <a:moveTo>
                  <a:pt x="5537286" y="0"/>
                </a:moveTo>
                <a:lnTo>
                  <a:pt x="0" y="0"/>
                </a:lnTo>
                <a:lnTo>
                  <a:pt x="0" y="6164994"/>
                </a:lnTo>
                <a:lnTo>
                  <a:pt x="5537286" y="6164994"/>
                </a:lnTo>
                <a:lnTo>
                  <a:pt x="553728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3824514" y="3356945"/>
            <a:ext cx="10287000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b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Registracija: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sr-Latn-RS" sz="2800" spc="-78" dirty="0">
              <a:solidFill>
                <a:srgbClr val="EBF5FE"/>
              </a:solidFill>
              <a:latin typeface="Garet"/>
              <a:ea typeface="Garet"/>
              <a:cs typeface="Garet"/>
              <a:sym typeface="Garet"/>
            </a:endParaRPr>
          </a:p>
          <a:p>
            <a:pPr>
              <a:spcBef>
                <a:spcPct val="0"/>
              </a:spcBef>
            </a:pP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Dodavanje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novog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broja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u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tabelu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i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arch/x86/entry/</a:t>
            </a:r>
            <a:r>
              <a:rPr lang="en-US" sz="2800" i="1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syscalls</a:t>
            </a:r>
            <a:r>
              <a:rPr lang="en-US" sz="2800" i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/syscall_64.tbl.</a:t>
            </a:r>
            <a:endParaRPr lang="sr-Latn-RS" sz="2800" i="1" spc="-78" dirty="0">
              <a:solidFill>
                <a:srgbClr val="EBF5FE"/>
              </a:solidFill>
              <a:latin typeface="Garet"/>
              <a:ea typeface="Garet"/>
              <a:cs typeface="Garet"/>
              <a:sym typeface="Garet"/>
            </a:endParaRPr>
          </a:p>
          <a:p>
            <a:pPr>
              <a:spcBef>
                <a:spcPct val="0"/>
              </a:spcBef>
            </a:pPr>
            <a:r>
              <a:rPr lang="en-US" sz="2800" b="1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Deklaracija</a:t>
            </a:r>
            <a:r>
              <a:rPr lang="en-US" sz="2800" b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sr-Latn-RS" sz="2800" spc="-78" dirty="0">
              <a:solidFill>
                <a:srgbClr val="EBF5FE"/>
              </a:solidFill>
              <a:latin typeface="Garet"/>
              <a:ea typeface="Garet"/>
              <a:cs typeface="Garet"/>
              <a:sym typeface="Garet"/>
            </a:endParaRPr>
          </a:p>
          <a:p>
            <a:pPr>
              <a:spcBef>
                <a:spcPct val="0"/>
              </a:spcBef>
            </a:pP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Definisanje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prototipa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funkcije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u</a:t>
            </a:r>
            <a:r>
              <a:rPr lang="sr-Latn-R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i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include/</a:t>
            </a:r>
            <a:r>
              <a:rPr lang="en-US" sz="2800" i="1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linux</a:t>
            </a:r>
            <a:r>
              <a:rPr lang="en-US" sz="2800" i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/</a:t>
            </a:r>
            <a:r>
              <a:rPr lang="en-US" sz="2800" i="1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syscalls.h</a:t>
            </a:r>
            <a:r>
              <a:rPr lang="en-US" sz="2800" i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  <a:endParaRPr lang="sr-Latn-RS" sz="2800" i="1" spc="-78" dirty="0">
              <a:solidFill>
                <a:srgbClr val="EBF5FE"/>
              </a:solidFill>
              <a:latin typeface="Garet"/>
              <a:ea typeface="Garet"/>
              <a:cs typeface="Garet"/>
              <a:sym typeface="Garet"/>
            </a:endParaRPr>
          </a:p>
          <a:p>
            <a:pPr>
              <a:spcBef>
                <a:spcPct val="0"/>
              </a:spcBef>
            </a:pPr>
            <a:r>
              <a:rPr lang="en-US" sz="2800" b="1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Implementacija</a:t>
            </a:r>
            <a:r>
              <a:rPr lang="en-US" sz="2800" b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b="1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koda</a:t>
            </a:r>
            <a:r>
              <a:rPr lang="en-US" sz="2800" b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endParaRPr lang="sr-Latn-RS" sz="2800" b="1" spc="-78" dirty="0">
              <a:solidFill>
                <a:srgbClr val="EBF5FE"/>
              </a:solidFill>
              <a:latin typeface="Garet"/>
              <a:ea typeface="Garet"/>
              <a:cs typeface="Garet"/>
              <a:sym typeface="Garet"/>
            </a:endParaRPr>
          </a:p>
          <a:p>
            <a:pPr>
              <a:spcBef>
                <a:spcPct val="0"/>
              </a:spcBef>
            </a:pP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Kreiran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je novi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fajl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i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kernel/</a:t>
            </a:r>
            <a:r>
              <a:rPr lang="en-US" sz="2800" i="1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file_monitor</a:t>
            </a:r>
            <a:r>
              <a:rPr lang="sr-Latn-RS" sz="2800" i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_sys</a:t>
            </a:r>
            <a:r>
              <a:rPr lang="en-US" sz="2800" i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.c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  <a:endParaRPr lang="sr-Latn-RS" sz="2800" spc="-78" dirty="0">
              <a:solidFill>
                <a:srgbClr val="EBF5FE"/>
              </a:solidFill>
              <a:latin typeface="Garet"/>
              <a:ea typeface="Garet"/>
              <a:cs typeface="Garet"/>
              <a:sym typeface="Garet"/>
            </a:endParaRPr>
          </a:p>
          <a:p>
            <a:pPr>
              <a:spcBef>
                <a:spcPct val="0"/>
              </a:spcBef>
            </a:pPr>
            <a:r>
              <a:rPr lang="en-US" sz="2800" b="1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Korišćeni</a:t>
            </a:r>
            <a:r>
              <a:rPr lang="en-US" sz="2800" b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b="1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makro</a:t>
            </a:r>
            <a:r>
              <a:rPr lang="en-US" sz="2800" b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endParaRPr lang="sr-Latn-RS" sz="2800" b="1" spc="-78" dirty="0">
              <a:solidFill>
                <a:srgbClr val="EBF5FE"/>
              </a:solidFill>
              <a:latin typeface="Garet"/>
              <a:ea typeface="Garet"/>
              <a:cs typeface="Garet"/>
              <a:sym typeface="Garet"/>
            </a:endParaRPr>
          </a:p>
          <a:p>
            <a:pPr>
              <a:spcBef>
                <a:spcPct val="0"/>
              </a:spcBef>
            </a:pPr>
            <a:r>
              <a:rPr lang="en-US" sz="2800" i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SYSCALL_DEFINE1(</a:t>
            </a:r>
            <a:r>
              <a:rPr lang="en-US" sz="2800" i="1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file_monitor</a:t>
            </a:r>
            <a:r>
              <a:rPr lang="en-US" sz="2800" i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, const char __user *, filename) </a:t>
            </a:r>
            <a:r>
              <a:rPr lang="sr-Latn-RS" sz="2800" i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-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omogućava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prosleđivanje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putanje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iz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korisničkog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prostora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  <a:endParaRPr lang="sr-Latn-RS" sz="2800" spc="-78" dirty="0">
              <a:solidFill>
                <a:srgbClr val="EBF5FE"/>
              </a:solidFill>
              <a:latin typeface="Garet"/>
              <a:ea typeface="Garet"/>
              <a:cs typeface="Garet"/>
              <a:sym typeface="Garet"/>
            </a:endParaRPr>
          </a:p>
          <a:p>
            <a:pPr>
              <a:spcBef>
                <a:spcPct val="0"/>
              </a:spcBef>
            </a:pPr>
            <a:r>
              <a:rPr lang="en-US" sz="2800" b="1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Bezbednost</a:t>
            </a:r>
            <a:r>
              <a:rPr lang="en-US" sz="2800" b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br>
              <a:rPr lang="sr-Latn-RS" sz="2800" b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</a:b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Upotreba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funkcije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i="1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strncpy_from_user</a:t>
            </a:r>
            <a:r>
              <a:rPr lang="en-US" sz="2800" i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sr-Latn-RS" sz="2800" i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za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sigurno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kopiranje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putanje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iz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memorije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korisnika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u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memoriju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kernela,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čime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se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sprečavaju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i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"kernel panic"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greške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74C1048-EEB3-E005-6A09-DAA524DE5C83}"/>
              </a:ext>
            </a:extLst>
          </p:cNvPr>
          <p:cNvPicPr>
            <a:picLocks/>
          </p:cNvPicPr>
          <p:nvPr/>
        </p:nvPicPr>
        <p:blipFill>
          <a:blip r:embed="rId5" cstate="print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008" b="96241" l="4478" r="96269">
                        <a14:foregroundMark x1="28358" y1="14286" x2="32836" y2="17293"/>
                        <a14:foregroundMark x1="29104" y1="15038" x2="13433" y2="30075"/>
                        <a14:foregroundMark x1="7463" y1="39098" x2="17164" y2="75940"/>
                        <a14:foregroundMark x1="29851" y1="87970" x2="78358" y2="75940"/>
                        <a14:foregroundMark x1="65490" y1="90381" x2="71642" y2="90977"/>
                        <a14:foregroundMark x1="32836" y1="87218" x2="53981" y2="89267"/>
                        <a14:foregroundMark x1="55823" y1="91815" x2="34328" y2="88722"/>
                        <a14:foregroundMark x1="80597" y1="27068" x2="90299" y2="69173"/>
                        <a14:foregroundMark x1="88806" y1="42105" x2="90299" y2="60150"/>
                        <a14:foregroundMark x1="91045" y1="40602" x2="91045" y2="65414"/>
                        <a14:foregroundMark x1="62687" y1="12782" x2="40299" y2="5263"/>
                        <a14:foregroundMark x1="30597" y1="87218" x2="58872" y2="96035"/>
                        <a14:foregroundMark x1="90299" y1="40602" x2="94776" y2="57143"/>
                        <a14:foregroundMark x1="7463" y1="39098" x2="4478" y2="57143"/>
                        <a14:foregroundMark x1="91791" y1="42857" x2="96269" y2="51880"/>
                        <a14:backgroundMark x1="61194" y1="99248" x2="61194" y2="99248"/>
                        <a14:backgroundMark x1="70896" y1="97744" x2="64179" y2="99248"/>
                        <a14:backgroundMark x1="64925" y1="98496" x2="61194" y2="992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20" y="692127"/>
            <a:ext cx="924786" cy="8946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0517729">
            <a:off x="-2903692" y="2728"/>
            <a:ext cx="10371714" cy="1037171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31945" y="3097342"/>
            <a:ext cx="3696124" cy="6313254"/>
          </a:xfrm>
          <a:custGeom>
            <a:avLst/>
            <a:gdLst/>
            <a:ahLst/>
            <a:cxnLst/>
            <a:rect l="l" t="t" r="r" b="b"/>
            <a:pathLst>
              <a:path w="3696124" h="6313254">
                <a:moveTo>
                  <a:pt x="0" y="0"/>
                </a:moveTo>
                <a:lnTo>
                  <a:pt x="3696123" y="0"/>
                </a:lnTo>
                <a:lnTo>
                  <a:pt x="3696123" y="6313254"/>
                </a:lnTo>
                <a:lnTo>
                  <a:pt x="0" y="6313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381000" y="4522198"/>
            <a:ext cx="2827990" cy="4114800"/>
          </a:xfrm>
          <a:custGeom>
            <a:avLst/>
            <a:gdLst/>
            <a:ahLst/>
            <a:cxnLst/>
            <a:rect l="l" t="t" r="r" b="b"/>
            <a:pathLst>
              <a:path w="2827990" h="4114800">
                <a:moveTo>
                  <a:pt x="0" y="0"/>
                </a:moveTo>
                <a:lnTo>
                  <a:pt x="2827990" y="0"/>
                </a:lnTo>
                <a:lnTo>
                  <a:pt x="2827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6070360" y="8863664"/>
            <a:ext cx="1188940" cy="308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87"/>
              </a:lnSpc>
              <a:spcBef>
                <a:spcPct val="0"/>
              </a:spcBef>
            </a:pPr>
            <a:r>
              <a:rPr lang="en-US" sz="1777" spc="-81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006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590800" y="760494"/>
            <a:ext cx="12496800" cy="1258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sz="6220" spc="-347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Implementacija</a:t>
            </a:r>
            <a:r>
              <a:rPr lang="en-US" sz="6220" spc="-347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kernel </a:t>
            </a:r>
            <a:r>
              <a:rPr lang="en-US" sz="6220" spc="-347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modula</a:t>
            </a:r>
            <a:endParaRPr lang="en-US" sz="6220" spc="-347" dirty="0">
              <a:solidFill>
                <a:srgbClr val="EBF5FE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868400" y="708049"/>
            <a:ext cx="4301612" cy="1293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sz="6220" b="1" spc="-347" dirty="0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(LKM)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07C575E1-58CC-E839-7EC3-4E7B20A135B0}"/>
              </a:ext>
            </a:extLst>
          </p:cNvPr>
          <p:cNvPicPr>
            <a:picLocks/>
          </p:cNvPicPr>
          <p:nvPr/>
        </p:nvPicPr>
        <p:blipFill>
          <a:blip r:embed="rId5" cstate="print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008" b="96241" l="4478" r="96269">
                        <a14:foregroundMark x1="28358" y1="14286" x2="32836" y2="17293"/>
                        <a14:foregroundMark x1="29104" y1="15038" x2="13433" y2="30075"/>
                        <a14:foregroundMark x1="7463" y1="39098" x2="17164" y2="75940"/>
                        <a14:foregroundMark x1="29851" y1="87970" x2="78358" y2="75940"/>
                        <a14:foregroundMark x1="65490" y1="90381" x2="71642" y2="90977"/>
                        <a14:foregroundMark x1="32836" y1="87218" x2="53981" y2="89267"/>
                        <a14:foregroundMark x1="55823" y1="91815" x2="34328" y2="88722"/>
                        <a14:foregroundMark x1="80597" y1="27068" x2="90299" y2="69173"/>
                        <a14:foregroundMark x1="88806" y1="42105" x2="90299" y2="60150"/>
                        <a14:foregroundMark x1="91045" y1="40602" x2="91045" y2="65414"/>
                        <a14:foregroundMark x1="62687" y1="12782" x2="40299" y2="5263"/>
                        <a14:foregroundMark x1="30597" y1="87218" x2="58872" y2="96035"/>
                        <a14:foregroundMark x1="90299" y1="40602" x2="94776" y2="57143"/>
                        <a14:foregroundMark x1="7463" y1="39098" x2="4478" y2="57143"/>
                        <a14:foregroundMark x1="91791" y1="42857" x2="96269" y2="51880"/>
                        <a14:backgroundMark x1="61194" y1="99248" x2="61194" y2="99248"/>
                        <a14:backgroundMark x1="70896" y1="97744" x2="64179" y2="99248"/>
                        <a14:backgroundMark x1="64925" y1="98496" x2="61194" y2="992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20" y="692127"/>
            <a:ext cx="924786" cy="894637"/>
          </a:xfrm>
          <a:prstGeom prst="rect">
            <a:avLst/>
          </a:prstGeom>
          <a:noFill/>
        </p:spPr>
      </p:pic>
      <p:sp>
        <p:nvSpPr>
          <p:cNvPr id="60" name="TextBox 13">
            <a:extLst>
              <a:ext uri="{FF2B5EF4-FFF2-40B4-BE49-F238E27FC236}">
                <a16:creationId xmlns:a16="http://schemas.microsoft.com/office/drawing/2014/main" id="{DD9B4D44-983E-5860-FF69-4AC38A3F85D2}"/>
              </a:ext>
            </a:extLst>
          </p:cNvPr>
          <p:cNvSpPr txBox="1"/>
          <p:nvPr/>
        </p:nvSpPr>
        <p:spPr>
          <a:xfrm>
            <a:off x="4769221" y="2646189"/>
            <a:ext cx="12015070" cy="7325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Dinamičko </a:t>
            </a:r>
            <a:r>
              <a:rPr lang="en-US" sz="2800" b="1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proširenje</a:t>
            </a:r>
            <a:r>
              <a:rPr lang="en-US" sz="2800" b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Modul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omogućava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proširenje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funkcionalnosti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kernela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u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realnom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vremenu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, bez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potrebe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za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ponovnim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kompajliranjem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sistema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ili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restartovanjem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(reboot).</a:t>
            </a: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SysFS</a:t>
            </a:r>
            <a:r>
              <a:rPr lang="en-US" sz="2800" b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b="1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interfejs</a:t>
            </a:r>
            <a:r>
              <a:rPr lang="en-US" sz="2800" b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(/sys/kernel/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file_monitor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/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target_path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):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Umesto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statičkog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prosleđivanja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parametara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pri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učitavanju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modul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kreira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dinamički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SysFS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interfejs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. Ovo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omogućava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korisniku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da u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bilo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kom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momentu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promeni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putanju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fajla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koji se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prati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jednostavnim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upisom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u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SysFS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fajl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, bez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ponovnog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učitavanja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(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rmmod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/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insmod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)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samog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modula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:  echo "/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putanja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/do/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fajla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" |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sudo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tee /sys/kernel/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file_monitor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/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target_path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 </a:t>
            </a: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Lifecycle &amp; </a:t>
            </a:r>
            <a:r>
              <a:rPr lang="en-US" sz="2800" b="1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Inicijalizacija</a:t>
            </a:r>
            <a:r>
              <a:rPr lang="en-US" sz="2800" b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Standardne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module_init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i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module_exit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funkcije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upravljaju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životnim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ciklusom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modula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uz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automatsko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kreiranje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(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kobject_create_and_add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) i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uklanjanje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SysFS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čvora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iz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memorije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.  </a:t>
            </a: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Build </a:t>
            </a:r>
            <a:r>
              <a:rPr lang="en-US" sz="2800" b="1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sistem</a:t>
            </a:r>
            <a:r>
              <a:rPr lang="en-US" sz="2800" b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(</a:t>
            </a:r>
            <a:r>
              <a:rPr lang="en-US" sz="2800" b="1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Makefile</a:t>
            </a:r>
            <a:r>
              <a:rPr lang="en-US" sz="2800" b="1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):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Korišćen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obj-m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sistem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za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pretvaranje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koda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u kernel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modul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(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file_monitor.ko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),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prilagođen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za rad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sa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zaglavljima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iz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verzije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kernela</a:t>
            </a:r>
            <a:r>
              <a:rPr lang="en-US" sz="2800" spc="-78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6.8+.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104900" y="2621180"/>
            <a:ext cx="4017831" cy="701294"/>
          </a:xfrm>
          <a:custGeom>
            <a:avLst/>
            <a:gdLst/>
            <a:ahLst/>
            <a:cxnLst/>
            <a:rect l="l" t="t" r="r" b="b"/>
            <a:pathLst>
              <a:path w="4017831" h="701294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6070360" y="8863664"/>
            <a:ext cx="1188940" cy="308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87"/>
              </a:lnSpc>
              <a:spcBef>
                <a:spcPct val="0"/>
              </a:spcBef>
            </a:pPr>
            <a:r>
              <a:rPr lang="en-US" sz="1777" spc="-81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007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000" y="1562100"/>
            <a:ext cx="9213924" cy="1258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sz="6220" spc="-347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Algoritam</a:t>
            </a:r>
            <a:r>
              <a:rPr lang="en-US" sz="6220" spc="-347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6220" spc="-347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pretrage</a:t>
            </a:r>
            <a:r>
              <a:rPr lang="en-US" sz="6220" spc="-347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3000" y="2601197"/>
            <a:ext cx="9448800" cy="1258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sz="6220" b="1" spc="-347" dirty="0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Od </a:t>
            </a:r>
            <a:r>
              <a:rPr lang="en-US" sz="6220" b="1" spc="-347" dirty="0" err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putanje</a:t>
            </a:r>
            <a:r>
              <a:rPr lang="en-US" sz="6220" b="1" spc="-347" dirty="0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 do </a:t>
            </a:r>
            <a:r>
              <a:rPr lang="en-US" sz="6220" b="1" spc="-347" dirty="0" err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Inode</a:t>
            </a:r>
            <a:r>
              <a:rPr lang="en-US" sz="6220" b="1" spc="-347" dirty="0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-a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0" y="4064079"/>
            <a:ext cx="9448800" cy="6032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Da bi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rešenje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bilo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efikasno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implementirana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je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sledeća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logika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  <a:endParaRPr lang="sr-Latn-RS" sz="2800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14350" indent="-514350">
              <a:spcBef>
                <a:spcPct val="0"/>
              </a:spcBef>
              <a:buFont typeface="+mj-lt"/>
              <a:buAutoNum type="arabicPeriod"/>
            </a:pP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Dobijanje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Inode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-a: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Funkcija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kern_path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pretvara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string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putanje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u 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path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strukturu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iz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koje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izvlačimo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jedinstveni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inode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ciljanog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fajla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  <a:endParaRPr lang="sr-Latn-RS" sz="2800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14350" indent="-514350">
              <a:spcBef>
                <a:spcPct val="0"/>
              </a:spcBef>
              <a:buFont typeface="+mj-lt"/>
              <a:buAutoNum type="arabicPeriod"/>
            </a:pP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Prolazak </a:t>
            </a: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kroz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procese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Makro </a:t>
            </a: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for_each_process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(task)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prolazi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kroz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kružnu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listu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svih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aktivnih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deskriptora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procesa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  <a:endParaRPr lang="sr-Latn-RS" sz="2800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14350" indent="-514350">
              <a:spcBef>
                <a:spcPct val="0"/>
              </a:spcBef>
              <a:buFont typeface="+mj-lt"/>
              <a:buAutoNum type="arabicPeriod"/>
            </a:pP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Iteracija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kroz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deskriptore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fajlova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Za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svaki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proces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proveravamo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njegovu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tabelu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otvorenih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fajlova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(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task-&gt;files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).</a:t>
            </a:r>
            <a:endParaRPr lang="sr-Latn-RS" sz="2800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14350" indent="-514350">
              <a:spcBef>
                <a:spcPct val="0"/>
              </a:spcBef>
              <a:buFont typeface="+mj-lt"/>
              <a:buAutoNum type="arabicPeriod"/>
            </a:pP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Poređenje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Ako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proces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ima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otvoren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fajl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čiji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se </a:t>
            </a: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inode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poklapa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našim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ciljanim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inode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-om,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proces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se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markira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za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ispis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detalja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35A7972-BC70-E31C-03A8-4C27A0150B38}"/>
              </a:ext>
            </a:extLst>
          </p:cNvPr>
          <p:cNvPicPr>
            <a:picLocks/>
          </p:cNvPicPr>
          <p:nvPr/>
        </p:nvPicPr>
        <p:blipFill>
          <a:blip r:embed="rId4" cstate="print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008" b="96241" l="4478" r="96269">
                        <a14:foregroundMark x1="28358" y1="14286" x2="32836" y2="17293"/>
                        <a14:foregroundMark x1="29104" y1="15038" x2="13433" y2="30075"/>
                        <a14:foregroundMark x1="7463" y1="39098" x2="17164" y2="75940"/>
                        <a14:foregroundMark x1="29851" y1="87970" x2="78358" y2="75940"/>
                        <a14:foregroundMark x1="65490" y1="90381" x2="71642" y2="90977"/>
                        <a14:foregroundMark x1="32836" y1="87218" x2="53981" y2="89267"/>
                        <a14:foregroundMark x1="55823" y1="91815" x2="34328" y2="88722"/>
                        <a14:foregroundMark x1="80597" y1="27068" x2="90299" y2="69173"/>
                        <a14:foregroundMark x1="88806" y1="42105" x2="90299" y2="60150"/>
                        <a14:foregroundMark x1="91045" y1="40602" x2="91045" y2="65414"/>
                        <a14:foregroundMark x1="62687" y1="12782" x2="40299" y2="5263"/>
                        <a14:foregroundMark x1="30597" y1="87218" x2="58872" y2="96035"/>
                        <a14:foregroundMark x1="90299" y1="40602" x2="94776" y2="57143"/>
                        <a14:foregroundMark x1="7463" y1="39098" x2="4478" y2="57143"/>
                        <a14:foregroundMark x1="91791" y1="42857" x2="96269" y2="51880"/>
                        <a14:backgroundMark x1="61194" y1="99248" x2="61194" y2="99248"/>
                        <a14:backgroundMark x1="70896" y1="97744" x2="64179" y2="99248"/>
                        <a14:backgroundMark x1="64925" y1="98496" x2="61194" y2="992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20" y="692127"/>
            <a:ext cx="924786" cy="894637"/>
          </a:xfrm>
          <a:prstGeom prst="rect">
            <a:avLst/>
          </a:prstGeom>
          <a:noFill/>
        </p:spPr>
      </p:pic>
      <p:sp>
        <p:nvSpPr>
          <p:cNvPr id="9" name="Freeform 9"/>
          <p:cNvSpPr/>
          <p:nvPr/>
        </p:nvSpPr>
        <p:spPr>
          <a:xfrm>
            <a:off x="11506200" y="3086222"/>
            <a:ext cx="6393051" cy="4114800"/>
          </a:xfrm>
          <a:custGeom>
            <a:avLst/>
            <a:gdLst/>
            <a:ahLst/>
            <a:cxnLst/>
            <a:rect l="l" t="t" r="r" b="b"/>
            <a:pathLst>
              <a:path w="6393051" h="4114800">
                <a:moveTo>
                  <a:pt x="0" y="0"/>
                </a:moveTo>
                <a:lnTo>
                  <a:pt x="6393050" y="0"/>
                </a:lnTo>
                <a:lnTo>
                  <a:pt x="6393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104900" y="2621180"/>
            <a:ext cx="4017831" cy="701294"/>
          </a:xfrm>
          <a:custGeom>
            <a:avLst/>
            <a:gdLst/>
            <a:ahLst/>
            <a:cxnLst/>
            <a:rect l="l" t="t" r="r" b="b"/>
            <a:pathLst>
              <a:path w="4017831" h="701294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6070360" y="8863664"/>
            <a:ext cx="1188940" cy="308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87"/>
              </a:lnSpc>
              <a:spcBef>
                <a:spcPct val="0"/>
              </a:spcBef>
            </a:pPr>
            <a:r>
              <a:rPr lang="en-US" sz="1777" spc="-81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008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24200" y="1496906"/>
            <a:ext cx="12039600" cy="1076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03"/>
              </a:lnSpc>
              <a:spcBef>
                <a:spcPct val="0"/>
              </a:spcBef>
            </a:pPr>
            <a:r>
              <a:rPr lang="pl-PL" sz="6217" spc="-285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Analiza i ekstrakcija podataka iz</a:t>
            </a:r>
            <a:endParaRPr lang="en-US" sz="6217" spc="-285" dirty="0">
              <a:solidFill>
                <a:srgbClr val="EBF5FE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876417" y="2446437"/>
            <a:ext cx="6535166" cy="1070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03"/>
              </a:lnSpc>
              <a:spcBef>
                <a:spcPct val="0"/>
              </a:spcBef>
            </a:pPr>
            <a:r>
              <a:rPr lang="en-US" sz="6217" b="1" spc="-285" dirty="0" err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task_struct</a:t>
            </a:r>
            <a:endParaRPr lang="en-US" sz="6217" b="1" spc="-285" dirty="0">
              <a:solidFill>
                <a:srgbClr val="EBF5FE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286000" y="3969003"/>
            <a:ext cx="13716000" cy="56015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Identifikacija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i </a:t>
            </a: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hijerarhija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Pored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osnovnog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PID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-a,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ekstraktovan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je 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PPID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(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Parent PID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)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preko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pokazivača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na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roditeljski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proces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(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task-&gt;</a:t>
            </a: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real_parent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-&gt;</a:t>
            </a: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pid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)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radi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jasnijeg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uvida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u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stablo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procesa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Vlasništvo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(Credentials):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Korišćeni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su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makroi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za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bezbedan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pristup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kredencijalima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procesa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kako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bi se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izvukli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UID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i 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GID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vlasnika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Memorijski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profil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Korišćen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je </a:t>
            </a: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get_mm_rss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za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dobijanje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broja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rezidentnih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stranica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u RAM-u,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koje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su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potom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bitovskim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pomeranjem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(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PAGE_SHIFT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)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konvertovane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u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kilobajte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(KB).</a:t>
            </a: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Vremenska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metrika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Ukupno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vreme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na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procesoru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dobijeno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je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sumiranjem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utime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i </a:t>
            </a: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stime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(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user/system time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)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polja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.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Izvršena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je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konverzija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iz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nanosekundi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u format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sekunde.milisekunde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Multithreading: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Izvučen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je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podatak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o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broju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niti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koje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proces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koristi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preko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signal-&gt;</a:t>
            </a: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nr_threads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1077ACC0-39E8-06AE-E0C5-F24CD38282CD}"/>
              </a:ext>
            </a:extLst>
          </p:cNvPr>
          <p:cNvPicPr>
            <a:picLocks/>
          </p:cNvPicPr>
          <p:nvPr/>
        </p:nvPicPr>
        <p:blipFill>
          <a:blip r:embed="rId4" cstate="print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008" b="96241" l="4478" r="96269">
                        <a14:foregroundMark x1="28358" y1="14286" x2="32836" y2="17293"/>
                        <a14:foregroundMark x1="29104" y1="15038" x2="13433" y2="30075"/>
                        <a14:foregroundMark x1="7463" y1="39098" x2="17164" y2="75940"/>
                        <a14:foregroundMark x1="29851" y1="87970" x2="78358" y2="75940"/>
                        <a14:foregroundMark x1="65490" y1="90381" x2="71642" y2="90977"/>
                        <a14:foregroundMark x1="32836" y1="87218" x2="53981" y2="89267"/>
                        <a14:foregroundMark x1="55823" y1="91815" x2="34328" y2="88722"/>
                        <a14:foregroundMark x1="80597" y1="27068" x2="90299" y2="69173"/>
                        <a14:foregroundMark x1="88806" y1="42105" x2="90299" y2="60150"/>
                        <a14:foregroundMark x1="91045" y1="40602" x2="91045" y2="65414"/>
                        <a14:foregroundMark x1="62687" y1="12782" x2="40299" y2="5263"/>
                        <a14:foregroundMark x1="30597" y1="87218" x2="58872" y2="96035"/>
                        <a14:foregroundMark x1="90299" y1="40602" x2="94776" y2="57143"/>
                        <a14:foregroundMark x1="7463" y1="39098" x2="4478" y2="57143"/>
                        <a14:foregroundMark x1="91791" y1="42857" x2="96269" y2="51880"/>
                        <a14:backgroundMark x1="61194" y1="99248" x2="61194" y2="99248"/>
                        <a14:backgroundMark x1="70896" y1="97744" x2="64179" y2="99248"/>
                        <a14:backgroundMark x1="64925" y1="98496" x2="61194" y2="992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20" y="692127"/>
            <a:ext cx="924786" cy="8946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104900" y="2621180"/>
            <a:ext cx="4017831" cy="701294"/>
          </a:xfrm>
          <a:custGeom>
            <a:avLst/>
            <a:gdLst/>
            <a:ahLst/>
            <a:cxnLst/>
            <a:rect l="l" t="t" r="r" b="b"/>
            <a:pathLst>
              <a:path w="4017831" h="701294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6070360" y="8863664"/>
            <a:ext cx="1188940" cy="308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87"/>
              </a:lnSpc>
              <a:spcBef>
                <a:spcPct val="0"/>
              </a:spcBef>
            </a:pPr>
            <a:r>
              <a:rPr lang="en-US" sz="1777" spc="-81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009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7020" y="1825486"/>
            <a:ext cx="10541180" cy="1258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sz="6220" spc="-347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Ključne</a:t>
            </a:r>
            <a:r>
              <a:rPr lang="en-US" sz="6220" spc="-347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6220" spc="-347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komande</a:t>
            </a:r>
            <a:r>
              <a:rPr lang="en-US" sz="6220" spc="-347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7020" y="2864582"/>
            <a:ext cx="8940980" cy="1258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sz="6220" b="1" spc="-347" dirty="0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workflow u </a:t>
            </a:r>
            <a:r>
              <a:rPr lang="en-US" sz="6220" b="1" spc="-347" dirty="0" err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terminalu</a:t>
            </a:r>
            <a:endParaRPr lang="en-US" sz="6220" b="1" spc="-347" dirty="0">
              <a:solidFill>
                <a:srgbClr val="EBF5FE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727020" y="4457700"/>
            <a:ext cx="14343340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Build i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instalacija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kernela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  <a:endParaRPr lang="sr-Latn-RS" sz="2800" i="1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prevo</a:t>
            </a:r>
            <a:r>
              <a:rPr lang="sr-Latn-R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đenje kernela: 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make -j$(</a:t>
            </a: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nproc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)</a:t>
            </a:r>
            <a:r>
              <a:rPr lang="sr-Latn-R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sr-Latn-R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nstalacija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modula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i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kernela</a:t>
            </a:r>
            <a:r>
              <a:rPr lang="sr-Latn-R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sudo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make </a:t>
            </a: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modules_install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sr-Latn-R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sr-Latn-R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udo make install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sr-Latn-RS" sz="2800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>
              <a:spcBef>
                <a:spcPct val="0"/>
              </a:spcBef>
            </a:pP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Upravljanje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pokretanjem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(Boot management):</a:t>
            </a:r>
            <a:endParaRPr lang="sr-Latn-RS" sz="2800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sr-Latn-R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g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enerisanje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ramdisk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-a</a:t>
            </a:r>
            <a:r>
              <a:rPr lang="sr-Latn-R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sudo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update-</a:t>
            </a: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initramfs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-c -k 6.18.9 </a:t>
            </a:r>
            <a:endParaRPr lang="sr-Latn-RS" sz="2800" i="1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sr-Latn-R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žuriranje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bootloadera</a:t>
            </a:r>
            <a:r>
              <a:rPr lang="sr-Latn-R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sudo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update-grub</a:t>
            </a:r>
            <a:endParaRPr lang="sr-Latn-RS" sz="2800" i="1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sr-Latn-R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restart sistema: </a:t>
            </a:r>
            <a:r>
              <a:rPr lang="sr-Latn-R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sudo reboot</a:t>
            </a:r>
          </a:p>
          <a:p>
            <a:pPr>
              <a:spcBef>
                <a:spcPct val="0"/>
              </a:spcBef>
            </a:pPr>
            <a:r>
              <a:rPr lang="sr-Latn-R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Pokretanje  testa i  ispis rezultata:</a:t>
            </a: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./test_scenario.sh</a:t>
            </a:r>
            <a:r>
              <a:rPr lang="sr-Latn-R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sr-Latn-R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ili </a:t>
            </a:r>
            <a:r>
              <a:rPr lang="sr-Latn-R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./test_scenario_modul.sh</a:t>
            </a: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pt-BR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sudo dmesg | tail -n 50</a:t>
            </a:r>
            <a:endParaRPr lang="en-US" sz="2800" i="1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AE56EA2-CFD6-55BA-F511-EC8DF747E24C}"/>
              </a:ext>
            </a:extLst>
          </p:cNvPr>
          <p:cNvPicPr>
            <a:picLocks/>
          </p:cNvPicPr>
          <p:nvPr/>
        </p:nvPicPr>
        <p:blipFill>
          <a:blip r:embed="rId4" cstate="print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008" b="96241" l="4478" r="96269">
                        <a14:foregroundMark x1="28358" y1="14286" x2="32836" y2="17293"/>
                        <a14:foregroundMark x1="29104" y1="15038" x2="13433" y2="30075"/>
                        <a14:foregroundMark x1="7463" y1="39098" x2="17164" y2="75940"/>
                        <a14:foregroundMark x1="29851" y1="87970" x2="78358" y2="75940"/>
                        <a14:foregroundMark x1="65490" y1="90381" x2="71642" y2="90977"/>
                        <a14:foregroundMark x1="32836" y1="87218" x2="53981" y2="89267"/>
                        <a14:foregroundMark x1="55823" y1="91815" x2="34328" y2="88722"/>
                        <a14:foregroundMark x1="80597" y1="27068" x2="90299" y2="69173"/>
                        <a14:foregroundMark x1="88806" y1="42105" x2="90299" y2="60150"/>
                        <a14:foregroundMark x1="91045" y1="40602" x2="91045" y2="65414"/>
                        <a14:foregroundMark x1="62687" y1="12782" x2="40299" y2="5263"/>
                        <a14:foregroundMark x1="30597" y1="87218" x2="58872" y2="96035"/>
                        <a14:foregroundMark x1="90299" y1="40602" x2="94776" y2="57143"/>
                        <a14:foregroundMark x1="7463" y1="39098" x2="4478" y2="57143"/>
                        <a14:foregroundMark x1="91791" y1="42857" x2="96269" y2="51880"/>
                        <a14:backgroundMark x1="61194" y1="99248" x2="61194" y2="99248"/>
                        <a14:backgroundMark x1="70896" y1="97744" x2="64179" y2="99248"/>
                        <a14:backgroundMark x1="64925" y1="98496" x2="61194" y2="992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20" y="692127"/>
            <a:ext cx="924786" cy="8946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7C192C-FAF0-70BB-EA12-06FF16EEA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7A87FF34-16BA-3060-DCA0-2B37B7D720B3}"/>
              </a:ext>
            </a:extLst>
          </p:cNvPr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2765827-59AB-19DC-C3E9-78F18A09F770}"/>
              </a:ext>
            </a:extLst>
          </p:cNvPr>
          <p:cNvSpPr/>
          <p:nvPr/>
        </p:nvSpPr>
        <p:spPr>
          <a:xfrm>
            <a:off x="-1104900" y="2621180"/>
            <a:ext cx="4017831" cy="701294"/>
          </a:xfrm>
          <a:custGeom>
            <a:avLst/>
            <a:gdLst/>
            <a:ahLst/>
            <a:cxnLst/>
            <a:rect l="l" t="t" r="r" b="b"/>
            <a:pathLst>
              <a:path w="4017831" h="701294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642F7B6-01EA-CEC4-CF73-D35DEDB931DE}"/>
              </a:ext>
            </a:extLst>
          </p:cNvPr>
          <p:cNvSpPr txBox="1"/>
          <p:nvPr/>
        </p:nvSpPr>
        <p:spPr>
          <a:xfrm>
            <a:off x="16070360" y="8863664"/>
            <a:ext cx="1188940" cy="308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248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77" b="0" i="0" u="none" strike="noStrike" kern="1200" cap="none" spc="-81" normalizeH="0" baseline="0" noProof="0" dirty="0">
                <a:ln>
                  <a:noFill/>
                </a:ln>
                <a:solidFill>
                  <a:srgbClr val="EBF5F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0</a:t>
            </a:r>
            <a:r>
              <a:rPr kumimoji="0" lang="sr-Latn-RS" sz="1777" b="0" i="0" u="none" strike="noStrike" kern="1200" cap="none" spc="-81" normalizeH="0" baseline="0" noProof="0" dirty="0">
                <a:ln>
                  <a:noFill/>
                </a:ln>
                <a:solidFill>
                  <a:srgbClr val="EBF5F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10</a:t>
            </a:r>
            <a:endParaRPr kumimoji="0" lang="en-US" sz="1777" b="0" i="0" u="none" strike="noStrike" kern="1200" cap="none" spc="-81" normalizeH="0" baseline="0" noProof="0" dirty="0">
              <a:ln>
                <a:noFill/>
              </a:ln>
              <a:solidFill>
                <a:srgbClr val="EBF5FE"/>
              </a:solidFill>
              <a:effectLst/>
              <a:uLnTx/>
              <a:uFillTx/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4202DFB-3C79-AB96-A669-7A8D7C6B8AA7}"/>
              </a:ext>
            </a:extLst>
          </p:cNvPr>
          <p:cNvSpPr txBox="1"/>
          <p:nvPr/>
        </p:nvSpPr>
        <p:spPr>
          <a:xfrm>
            <a:off x="1727020" y="1485900"/>
            <a:ext cx="10541180" cy="1258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0574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r-Latn-RS" sz="6220" b="0" i="0" u="none" strike="noStrike" kern="1200" cap="none" spc="-347" normalizeH="0" baseline="0" noProof="0" dirty="0">
                <a:ln>
                  <a:noFill/>
                </a:ln>
                <a:solidFill>
                  <a:srgbClr val="EBF5F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Najbitniji delovi</a:t>
            </a:r>
            <a:endParaRPr kumimoji="0" lang="en-US" sz="6220" b="0" i="0" u="none" strike="noStrike" kern="1200" cap="none" spc="-347" normalizeH="0" baseline="0" noProof="0" dirty="0">
              <a:ln>
                <a:noFill/>
              </a:ln>
              <a:solidFill>
                <a:srgbClr val="EBF5FE"/>
              </a:solidFill>
              <a:effectLst/>
              <a:uLnTx/>
              <a:uFillTx/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D8D7C71-BBDF-E061-5B39-3DE45FB121DB}"/>
              </a:ext>
            </a:extLst>
          </p:cNvPr>
          <p:cNvSpPr txBox="1"/>
          <p:nvPr/>
        </p:nvSpPr>
        <p:spPr>
          <a:xfrm>
            <a:off x="7315200" y="1485900"/>
            <a:ext cx="8940980" cy="1258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0574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r-Latn-RS" sz="6220" b="1" i="0" u="none" strike="noStrike" kern="1200" cap="none" spc="-347" normalizeH="0" baseline="0" noProof="0" dirty="0">
                <a:ln>
                  <a:noFill/>
                </a:ln>
                <a:solidFill>
                  <a:srgbClr val="EBF5FE"/>
                </a:solidFill>
                <a:effectLst/>
                <a:uLnTx/>
                <a:uFillTx/>
                <a:latin typeface="Garet Bold"/>
                <a:ea typeface="Garet Bold"/>
                <a:cs typeface="Garet Bold"/>
                <a:sym typeface="Garet Bold"/>
              </a:rPr>
              <a:t>koda</a:t>
            </a:r>
            <a:endParaRPr kumimoji="0" lang="en-US" sz="6220" b="1" i="0" u="none" strike="noStrike" kern="1200" cap="none" spc="-347" normalizeH="0" baseline="0" noProof="0" dirty="0">
              <a:ln>
                <a:noFill/>
              </a:ln>
              <a:solidFill>
                <a:srgbClr val="EBF5FE"/>
              </a:solidFill>
              <a:effectLst/>
              <a:uLnTx/>
              <a:uFillTx/>
              <a:latin typeface="Garet Bold"/>
              <a:ea typeface="Garet Bold"/>
              <a:cs typeface="Garet Bold"/>
              <a:sym typeface="Garet Bold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06F8B38F-E43B-8315-32E9-05136D929975}"/>
              </a:ext>
            </a:extLst>
          </p:cNvPr>
          <p:cNvPicPr>
            <a:picLocks/>
          </p:cNvPicPr>
          <p:nvPr/>
        </p:nvPicPr>
        <p:blipFill>
          <a:blip r:embed="rId4" cstate="print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008" b="96241" l="4478" r="96269">
                        <a14:foregroundMark x1="28358" y1="14286" x2="32836" y2="17293"/>
                        <a14:foregroundMark x1="29104" y1="15038" x2="13433" y2="30075"/>
                        <a14:foregroundMark x1="7463" y1="39098" x2="17164" y2="75940"/>
                        <a14:foregroundMark x1="29851" y1="87970" x2="78358" y2="75940"/>
                        <a14:foregroundMark x1="65490" y1="90381" x2="71642" y2="90977"/>
                        <a14:foregroundMark x1="32836" y1="87218" x2="53981" y2="89267"/>
                        <a14:foregroundMark x1="55823" y1="91815" x2="34328" y2="88722"/>
                        <a14:foregroundMark x1="80597" y1="27068" x2="90299" y2="69173"/>
                        <a14:foregroundMark x1="88806" y1="42105" x2="90299" y2="60150"/>
                        <a14:foregroundMark x1="91045" y1="40602" x2="91045" y2="65414"/>
                        <a14:foregroundMark x1="62687" y1="12782" x2="40299" y2="5263"/>
                        <a14:foregroundMark x1="30597" y1="87218" x2="58872" y2="96035"/>
                        <a14:foregroundMark x1="90299" y1="40602" x2="94776" y2="57143"/>
                        <a14:foregroundMark x1="7463" y1="39098" x2="4478" y2="57143"/>
                        <a14:foregroundMark x1="91791" y1="42857" x2="96269" y2="51880"/>
                        <a14:backgroundMark x1="61194" y1="99248" x2="61194" y2="99248"/>
                        <a14:backgroundMark x1="70896" y1="97744" x2="64179" y2="99248"/>
                        <a14:backgroundMark x1="64925" y1="98496" x2="61194" y2="992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20" y="692127"/>
            <a:ext cx="924786" cy="894637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F6B951-7ECD-E963-9FE1-78257C7FCB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7719" y="4134988"/>
            <a:ext cx="6691711" cy="5809112"/>
          </a:xfrm>
          <a:prstGeom prst="rect">
            <a:avLst/>
          </a:prstGeom>
        </p:spPr>
      </p:pic>
      <p:sp>
        <p:nvSpPr>
          <p:cNvPr id="8" name="TextBox 22">
            <a:extLst>
              <a:ext uri="{FF2B5EF4-FFF2-40B4-BE49-F238E27FC236}">
                <a16:creationId xmlns:a16="http://schemas.microsoft.com/office/drawing/2014/main" id="{D9464EAE-D59E-912A-6859-C0D5498E3C00}"/>
              </a:ext>
            </a:extLst>
          </p:cNvPr>
          <p:cNvSpPr txBox="1"/>
          <p:nvPr/>
        </p:nvSpPr>
        <p:spPr>
          <a:xfrm>
            <a:off x="787720" y="3171174"/>
            <a:ext cx="4495800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/>
            </a:pPr>
            <a:r>
              <a:rPr lang="sr-Latn-R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Iteracija kroz procese</a:t>
            </a:r>
          </a:p>
          <a:p>
            <a:pPr marL="514350" indent="-514350">
              <a:spcBef>
                <a:spcPct val="0"/>
              </a:spcBef>
              <a:buFont typeface="+mj-lt"/>
              <a:buAutoNum type="arabicPeriod"/>
            </a:pP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Poređenje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Inode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-a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C5DB3D-8414-4899-8609-D19E26A51F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14661" y="5600700"/>
            <a:ext cx="6590281" cy="1211762"/>
          </a:xfrm>
          <a:prstGeom prst="rect">
            <a:avLst/>
          </a:prstGeom>
        </p:spPr>
      </p:pic>
      <p:sp>
        <p:nvSpPr>
          <p:cNvPr id="14" name="TextBox 22">
            <a:extLst>
              <a:ext uri="{FF2B5EF4-FFF2-40B4-BE49-F238E27FC236}">
                <a16:creationId xmlns:a16="http://schemas.microsoft.com/office/drawing/2014/main" id="{94E4E0B5-12DA-D418-B96F-F4E6BC40E589}"/>
              </a:ext>
            </a:extLst>
          </p:cNvPr>
          <p:cNvSpPr txBox="1"/>
          <p:nvPr/>
        </p:nvSpPr>
        <p:spPr>
          <a:xfrm>
            <a:off x="8314662" y="3171174"/>
            <a:ext cx="7907076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Test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skripta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</a:p>
          <a:p>
            <a:pPr>
              <a:spcBef>
                <a:spcPct val="0"/>
              </a:spcBef>
            </a:pP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Skripta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automatizuje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kreiranje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test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okruženja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podiže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pozadinske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procese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(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tail/sleep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) i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prosleđuje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dinamičku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putanju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test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aplikaciji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čime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se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simulira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realno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opterećenje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sistema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6028FE7-1EAE-BAE1-9590-CBCB756C16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14661" y="7152153"/>
            <a:ext cx="6590283" cy="959750"/>
          </a:xfrm>
          <a:prstGeom prst="rect">
            <a:avLst/>
          </a:prstGeom>
        </p:spPr>
      </p:pic>
      <p:sp>
        <p:nvSpPr>
          <p:cNvPr id="2" name="TextBox 22">
            <a:extLst>
              <a:ext uri="{FF2B5EF4-FFF2-40B4-BE49-F238E27FC236}">
                <a16:creationId xmlns:a16="http://schemas.microsoft.com/office/drawing/2014/main" id="{75786876-43AE-E130-3DE6-412AA8B2F860}"/>
              </a:ext>
            </a:extLst>
          </p:cNvPr>
          <p:cNvSpPr txBox="1"/>
          <p:nvPr/>
        </p:nvSpPr>
        <p:spPr>
          <a:xfrm>
            <a:off x="8314660" y="8420100"/>
            <a:ext cx="7941519" cy="1723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*Neki od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bitnijih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fajlova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organizovani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su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u /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src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direktorijumu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repozitorijuma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  <a:b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</a:b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https://github.com/SukiDj/Linux-Kernel-Process-Monitor</a:t>
            </a:r>
            <a:endParaRPr lang="en-US" sz="2800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  <p:extLst>
      <p:ext uri="{BB962C8B-B14F-4D97-AF65-F5344CB8AC3E}">
        <p14:creationId xmlns:p14="http://schemas.microsoft.com/office/powerpoint/2010/main" val="165638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548354">
            <a:off x="10695521" y="-42357"/>
            <a:ext cx="10371714" cy="1037171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6070360" y="8863664"/>
            <a:ext cx="1188940" cy="308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87"/>
              </a:lnSpc>
              <a:spcBef>
                <a:spcPct val="0"/>
              </a:spcBef>
            </a:pPr>
            <a:r>
              <a:rPr lang="en-US" sz="1777" spc="-81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011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1532" y="1936722"/>
            <a:ext cx="7875490" cy="1258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sz="6220" spc="-347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Rezultati</a:t>
            </a:r>
            <a:endParaRPr lang="en-US" sz="6220" spc="-347" dirty="0">
              <a:solidFill>
                <a:srgbClr val="EBF5FE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41532" y="2857500"/>
            <a:ext cx="8002468" cy="1258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sz="6220" b="1" spc="-347" dirty="0" err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testiranja</a:t>
            </a:r>
            <a:endParaRPr lang="en-US" sz="6220" b="1" spc="-347" dirty="0">
              <a:solidFill>
                <a:srgbClr val="EBF5FE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41532" y="4726647"/>
            <a:ext cx="7875490" cy="4739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Test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okruženje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Kreirano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je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više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paralelnih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procesa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pomoću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tail i sleep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komandi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nad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istom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datotekom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Verifikacija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Sistemski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poziv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i kernel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modul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su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uspešno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identifikovali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sve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procese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pružajući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konzistentne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i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precizne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podatke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u oba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slučaja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Stabilnost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Modifikacije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nisu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narušile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stabilnost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sistema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što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je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potvrđeno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višestrukim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testiranjem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i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praćenjem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sistemskih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logova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5172224-05DE-20E1-4957-4624EFF3C25B}"/>
              </a:ext>
            </a:extLst>
          </p:cNvPr>
          <p:cNvPicPr>
            <a:picLocks/>
          </p:cNvPicPr>
          <p:nvPr/>
        </p:nvPicPr>
        <p:blipFill>
          <a:blip r:embed="rId3" cstate="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08" b="96241" l="4478" r="96269">
                        <a14:foregroundMark x1="28358" y1="14286" x2="32836" y2="17293"/>
                        <a14:foregroundMark x1="29104" y1="15038" x2="13433" y2="30075"/>
                        <a14:foregroundMark x1="7463" y1="39098" x2="17164" y2="75940"/>
                        <a14:foregroundMark x1="29851" y1="87970" x2="78358" y2="75940"/>
                        <a14:foregroundMark x1="65490" y1="90381" x2="71642" y2="90977"/>
                        <a14:foregroundMark x1="32836" y1="87218" x2="53981" y2="89267"/>
                        <a14:foregroundMark x1="55823" y1="91815" x2="34328" y2="88722"/>
                        <a14:foregroundMark x1="80597" y1="27068" x2="90299" y2="69173"/>
                        <a14:foregroundMark x1="88806" y1="42105" x2="90299" y2="60150"/>
                        <a14:foregroundMark x1="91045" y1="40602" x2="91045" y2="65414"/>
                        <a14:foregroundMark x1="62687" y1="12782" x2="40299" y2="5263"/>
                        <a14:foregroundMark x1="30597" y1="87218" x2="58872" y2="96035"/>
                        <a14:foregroundMark x1="90299" y1="40602" x2="94776" y2="57143"/>
                        <a14:foregroundMark x1="7463" y1="39098" x2="4478" y2="57143"/>
                        <a14:foregroundMark x1="91791" y1="42857" x2="96269" y2="51880"/>
                        <a14:backgroundMark x1="61194" y1="99248" x2="61194" y2="99248"/>
                        <a14:backgroundMark x1="70896" y1="97744" x2="64179" y2="99248"/>
                        <a14:backgroundMark x1="64925" y1="98496" x2="61194" y2="992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20" y="692127"/>
            <a:ext cx="924786" cy="894637"/>
          </a:xfrm>
          <a:prstGeom prst="rect">
            <a:avLst/>
          </a:prstGeom>
          <a:noFill/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7DFDFE1-191F-8A36-BCF9-0D610AB8B2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0980" y="4679298"/>
            <a:ext cx="6870616" cy="47871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1AC7C2-7300-CD33-B820-161746B13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6268AC87-76B7-A920-FC98-145456A3300D}"/>
              </a:ext>
            </a:extLst>
          </p:cNvPr>
          <p:cNvGrpSpPr/>
          <p:nvPr/>
        </p:nvGrpSpPr>
        <p:grpSpPr>
          <a:xfrm rot="548354">
            <a:off x="10695521" y="-42357"/>
            <a:ext cx="10371714" cy="10371714"/>
            <a:chOff x="0" y="0"/>
            <a:chExt cx="812800" cy="812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7648A2C-6A6F-6FE5-C249-C5A8C08E087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44F4E2E-0A8C-AC6B-266F-09CC90A4540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8E6FD498-AE0D-04A1-9554-821BEC0F3077}"/>
              </a:ext>
            </a:extLst>
          </p:cNvPr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2C750E0-1F4A-1160-DAD8-77B716943F0F}"/>
              </a:ext>
            </a:extLst>
          </p:cNvPr>
          <p:cNvSpPr txBox="1"/>
          <p:nvPr/>
        </p:nvSpPr>
        <p:spPr>
          <a:xfrm>
            <a:off x="16070360" y="9330433"/>
            <a:ext cx="1188940" cy="308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248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77" b="0" i="0" u="none" strike="noStrike" kern="1200" cap="none" spc="-81" normalizeH="0" baseline="0" noProof="0" dirty="0">
                <a:ln>
                  <a:noFill/>
                </a:ln>
                <a:solidFill>
                  <a:srgbClr val="EBF5F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012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98DB10B-449C-D5F1-65B6-D62DDA006956}"/>
              </a:ext>
            </a:extLst>
          </p:cNvPr>
          <p:cNvSpPr txBox="1"/>
          <p:nvPr/>
        </p:nvSpPr>
        <p:spPr>
          <a:xfrm>
            <a:off x="1141532" y="1936722"/>
            <a:ext cx="4463930" cy="19143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220" b="0" i="0" u="none" strike="noStrike" kern="1200" cap="none" spc="-347" normalizeH="0" baseline="0" noProof="0" dirty="0" err="1">
                <a:ln>
                  <a:noFill/>
                </a:ln>
                <a:solidFill>
                  <a:srgbClr val="EBF5F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Rezultati</a:t>
            </a:r>
            <a:endParaRPr kumimoji="0" lang="en-US" sz="6220" b="0" i="0" u="none" strike="noStrike" kern="1200" cap="none" spc="-347" normalizeH="0" baseline="0" noProof="0" dirty="0">
              <a:ln>
                <a:noFill/>
              </a:ln>
              <a:solidFill>
                <a:srgbClr val="EBF5FE"/>
              </a:solidFill>
              <a:effectLst/>
              <a:uLnTx/>
              <a:uFillTx/>
              <a:latin typeface="Garet"/>
              <a:ea typeface="Garet"/>
              <a:cs typeface="Garet"/>
              <a:sym typeface="Garet"/>
            </a:endParaRPr>
          </a:p>
          <a:p>
            <a:pPr marL="0" marR="0" lvl="0" indent="0" algn="l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220" spc="-347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testiranja</a:t>
            </a:r>
            <a:r>
              <a:rPr lang="en-US" sz="6220" spc="-347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  <a:endParaRPr kumimoji="0" lang="en-US" sz="6220" b="0" i="0" u="none" strike="noStrike" kern="1200" cap="none" spc="-347" normalizeH="0" baseline="0" noProof="0" dirty="0">
              <a:ln>
                <a:noFill/>
              </a:ln>
              <a:solidFill>
                <a:srgbClr val="EBF5FE"/>
              </a:solidFill>
              <a:effectLst/>
              <a:uLnTx/>
              <a:uFillTx/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45E69C3-C574-3623-CA40-4D1FEB0C8051}"/>
              </a:ext>
            </a:extLst>
          </p:cNvPr>
          <p:cNvSpPr txBox="1"/>
          <p:nvPr/>
        </p:nvSpPr>
        <p:spPr>
          <a:xfrm>
            <a:off x="1141532" y="3838730"/>
            <a:ext cx="5411668" cy="19143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220" b="1" i="0" u="none" strike="noStrike" kern="1200" cap="none" spc="-347" normalizeH="0" baseline="0" noProof="0" dirty="0" err="1">
                <a:ln>
                  <a:noFill/>
                </a:ln>
                <a:solidFill>
                  <a:srgbClr val="EBF5FE"/>
                </a:solidFill>
                <a:effectLst/>
                <a:uLnTx/>
                <a:uFillTx/>
                <a:latin typeface="Garet Bold"/>
                <a:ea typeface="Garet Bold"/>
                <a:cs typeface="Garet Bold"/>
                <a:sym typeface="Garet Bold"/>
              </a:rPr>
              <a:t>Sistemski</a:t>
            </a:r>
            <a:endParaRPr kumimoji="0" lang="en-US" sz="6220" b="1" i="0" u="none" strike="noStrike" kern="1200" cap="none" spc="-347" normalizeH="0" baseline="0" noProof="0" dirty="0">
              <a:ln>
                <a:noFill/>
              </a:ln>
              <a:solidFill>
                <a:srgbClr val="EBF5FE"/>
              </a:solidFill>
              <a:effectLst/>
              <a:uLnTx/>
              <a:uFillTx/>
              <a:latin typeface="Garet Bold"/>
              <a:ea typeface="Garet Bold"/>
              <a:cs typeface="Garet Bold"/>
              <a:sym typeface="Garet Bold"/>
            </a:endParaRPr>
          </a:p>
          <a:p>
            <a:pPr marL="0" marR="0" lvl="0" indent="0" algn="l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220" b="1" spc="-347" dirty="0" err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poziv</a:t>
            </a:r>
            <a:endParaRPr kumimoji="0" lang="en-US" sz="6220" b="1" i="0" u="none" strike="noStrike" kern="1200" cap="none" spc="-347" normalizeH="0" baseline="0" noProof="0" dirty="0">
              <a:ln>
                <a:noFill/>
              </a:ln>
              <a:solidFill>
                <a:srgbClr val="EBF5FE"/>
              </a:solidFill>
              <a:effectLst/>
              <a:uLnTx/>
              <a:uFillTx/>
              <a:latin typeface="Garet Bold"/>
              <a:ea typeface="Garet Bold"/>
              <a:cs typeface="Garet Bold"/>
              <a:sym typeface="Garet Bold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885C5FA-1F3C-0F7E-0BD3-7446A812BCBB}"/>
              </a:ext>
            </a:extLst>
          </p:cNvPr>
          <p:cNvPicPr>
            <a:picLocks/>
          </p:cNvPicPr>
          <p:nvPr/>
        </p:nvPicPr>
        <p:blipFill>
          <a:blip r:embed="rId3" cstate="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08" b="96241" l="4478" r="96269">
                        <a14:foregroundMark x1="28358" y1="14286" x2="32836" y2="17293"/>
                        <a14:foregroundMark x1="29104" y1="15038" x2="13433" y2="30075"/>
                        <a14:foregroundMark x1="7463" y1="39098" x2="17164" y2="75940"/>
                        <a14:foregroundMark x1="29851" y1="87970" x2="78358" y2="75940"/>
                        <a14:foregroundMark x1="65490" y1="90381" x2="71642" y2="90977"/>
                        <a14:foregroundMark x1="32836" y1="87218" x2="53981" y2="89267"/>
                        <a14:foregroundMark x1="55823" y1="91815" x2="34328" y2="88722"/>
                        <a14:foregroundMark x1="80597" y1="27068" x2="90299" y2="69173"/>
                        <a14:foregroundMark x1="88806" y1="42105" x2="90299" y2="60150"/>
                        <a14:foregroundMark x1="91045" y1="40602" x2="91045" y2="65414"/>
                        <a14:foregroundMark x1="62687" y1="12782" x2="40299" y2="5263"/>
                        <a14:foregroundMark x1="30597" y1="87218" x2="58872" y2="96035"/>
                        <a14:foregroundMark x1="90299" y1="40602" x2="94776" y2="57143"/>
                        <a14:foregroundMark x1="7463" y1="39098" x2="4478" y2="57143"/>
                        <a14:foregroundMark x1="91791" y1="42857" x2="96269" y2="51880"/>
                        <a14:backgroundMark x1="61194" y1="99248" x2="61194" y2="99248"/>
                        <a14:backgroundMark x1="70896" y1="97744" x2="64179" y2="99248"/>
                        <a14:backgroundMark x1="64925" y1="98496" x2="61194" y2="992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20" y="692127"/>
            <a:ext cx="924786" cy="894637"/>
          </a:xfrm>
          <a:prstGeom prst="rect">
            <a:avLst/>
          </a:prstGeom>
          <a:noFill/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6233DCF-D3DC-CABF-0271-D6A6EBDE09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28" y="6562930"/>
            <a:ext cx="7077075" cy="2105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0CC7D6-5E75-DFEB-771B-BDF91D5FEF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647" y="657430"/>
            <a:ext cx="10334625" cy="8010525"/>
          </a:xfrm>
          <a:prstGeom prst="rect">
            <a:avLst/>
          </a:prstGeom>
        </p:spPr>
      </p:pic>
      <p:sp>
        <p:nvSpPr>
          <p:cNvPr id="8" name="TextBox 16">
            <a:extLst>
              <a:ext uri="{FF2B5EF4-FFF2-40B4-BE49-F238E27FC236}">
                <a16:creationId xmlns:a16="http://schemas.microsoft.com/office/drawing/2014/main" id="{1A05BA88-0BD7-28AA-559B-020DD77B17DA}"/>
              </a:ext>
            </a:extLst>
          </p:cNvPr>
          <p:cNvSpPr txBox="1"/>
          <p:nvPr/>
        </p:nvSpPr>
        <p:spPr>
          <a:xfrm>
            <a:off x="285728" y="8979813"/>
            <a:ext cx="6724672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Pokretanje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skripte</a:t>
            </a:r>
            <a:endParaRPr lang="en-US" sz="2800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19155104-51D4-EBD8-A420-F128A238817A}"/>
              </a:ext>
            </a:extLst>
          </p:cNvPr>
          <p:cNvSpPr txBox="1"/>
          <p:nvPr/>
        </p:nvSpPr>
        <p:spPr>
          <a:xfrm>
            <a:off x="7689773" y="8979812"/>
            <a:ext cx="6724672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Pokretanje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pt-BR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sudo dmesg | tail -n 50</a:t>
            </a:r>
            <a:endParaRPr lang="en-US" sz="2800" i="1" spc="-7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  <p:extLst>
      <p:ext uri="{BB962C8B-B14F-4D97-AF65-F5344CB8AC3E}">
        <p14:creationId xmlns:p14="http://schemas.microsoft.com/office/powerpoint/2010/main" val="1772167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8297DC-04A7-8CF1-1B1F-A67F2A183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989516B9-F9B1-7570-F1B7-227DFE77FC24}"/>
              </a:ext>
            </a:extLst>
          </p:cNvPr>
          <p:cNvGrpSpPr/>
          <p:nvPr/>
        </p:nvGrpSpPr>
        <p:grpSpPr>
          <a:xfrm rot="548354">
            <a:off x="10695521" y="-42357"/>
            <a:ext cx="10371714" cy="10371714"/>
            <a:chOff x="0" y="0"/>
            <a:chExt cx="812800" cy="812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D4D4FA7-A32A-2F43-2D86-45A4BBC7206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F350E0D-80BE-5757-71A5-C29F167CEE4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1521146E-CA7A-4434-825D-A6ACAB267033}"/>
              </a:ext>
            </a:extLst>
          </p:cNvPr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49A6D4C-657C-2E2D-17C5-E030EC1BA6CB}"/>
              </a:ext>
            </a:extLst>
          </p:cNvPr>
          <p:cNvSpPr txBox="1"/>
          <p:nvPr/>
        </p:nvSpPr>
        <p:spPr>
          <a:xfrm>
            <a:off x="16070360" y="9330433"/>
            <a:ext cx="1188940" cy="308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248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77" b="0" i="0" u="none" strike="noStrike" kern="1200" cap="none" spc="-81" normalizeH="0" baseline="0" noProof="0" dirty="0">
                <a:ln>
                  <a:noFill/>
                </a:ln>
                <a:solidFill>
                  <a:srgbClr val="EBF5F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013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EA18090-82AB-5B3F-337C-070111E8A66D}"/>
              </a:ext>
            </a:extLst>
          </p:cNvPr>
          <p:cNvSpPr txBox="1"/>
          <p:nvPr/>
        </p:nvSpPr>
        <p:spPr>
          <a:xfrm>
            <a:off x="3410981" y="274629"/>
            <a:ext cx="11466037" cy="957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220" b="0" i="0" u="none" strike="noStrike" kern="1200" cap="none" spc="-347" normalizeH="0" baseline="0" noProof="0" dirty="0" err="1">
                <a:ln>
                  <a:noFill/>
                </a:ln>
                <a:solidFill>
                  <a:srgbClr val="EBF5F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Rezultati</a:t>
            </a:r>
            <a:r>
              <a:rPr kumimoji="0" lang="en-US" sz="6220" b="0" i="0" u="none" strike="noStrike" kern="1200" cap="none" spc="-347" normalizeH="0" baseline="0" noProof="0" dirty="0">
                <a:ln>
                  <a:noFill/>
                </a:ln>
                <a:solidFill>
                  <a:srgbClr val="EBF5F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6220" b="0" i="0" u="none" strike="noStrike" kern="1200" cap="none" spc="-347" normalizeH="0" baseline="0" noProof="0" dirty="0" err="1">
                <a:ln>
                  <a:noFill/>
                </a:ln>
                <a:solidFill>
                  <a:srgbClr val="EBF5F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testiranja</a:t>
            </a:r>
            <a:r>
              <a:rPr kumimoji="0" lang="en-US" sz="6220" b="0" i="0" u="none" strike="noStrike" kern="1200" cap="none" spc="-347" normalizeH="0" baseline="0" noProof="0" dirty="0">
                <a:ln>
                  <a:noFill/>
                </a:ln>
                <a:solidFill>
                  <a:srgbClr val="EBF5F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: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BC484EF-9143-46FA-1655-6E598D02332E}"/>
              </a:ext>
            </a:extLst>
          </p:cNvPr>
          <p:cNvSpPr txBox="1"/>
          <p:nvPr/>
        </p:nvSpPr>
        <p:spPr>
          <a:xfrm>
            <a:off x="5066565" y="1231814"/>
            <a:ext cx="8154868" cy="957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220" b="1" i="0" u="none" strike="noStrike" kern="1200" cap="none" spc="-347" normalizeH="0" baseline="0" noProof="0" dirty="0">
                <a:ln>
                  <a:noFill/>
                </a:ln>
                <a:solidFill>
                  <a:srgbClr val="EBF5FE"/>
                </a:solidFill>
                <a:effectLst/>
                <a:uLnTx/>
                <a:uFillTx/>
                <a:latin typeface="Garet Bold"/>
                <a:ea typeface="Garet Bold"/>
                <a:cs typeface="Garet Bold"/>
                <a:sym typeface="Garet Bold"/>
              </a:rPr>
              <a:t>Kernel </a:t>
            </a:r>
            <a:r>
              <a:rPr lang="en-US" sz="6220" b="1" spc="-347" dirty="0" err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modul</a:t>
            </a:r>
            <a:endParaRPr kumimoji="0" lang="en-US" sz="6220" b="1" i="0" u="none" strike="noStrike" kern="1200" cap="none" spc="-347" normalizeH="0" baseline="0" noProof="0" dirty="0">
              <a:ln>
                <a:noFill/>
              </a:ln>
              <a:solidFill>
                <a:srgbClr val="EBF5FE"/>
              </a:solidFill>
              <a:effectLst/>
              <a:uLnTx/>
              <a:uFillTx/>
              <a:latin typeface="Garet Bold"/>
              <a:ea typeface="Garet Bold"/>
              <a:cs typeface="Garet Bold"/>
              <a:sym typeface="Garet Bold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AD1C6F8-0E4A-54DF-4661-BDD935ED26B9}"/>
              </a:ext>
            </a:extLst>
          </p:cNvPr>
          <p:cNvPicPr>
            <a:picLocks/>
          </p:cNvPicPr>
          <p:nvPr/>
        </p:nvPicPr>
        <p:blipFill>
          <a:blip r:embed="rId3" cstate="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08" b="96241" l="4478" r="96269">
                        <a14:foregroundMark x1="28358" y1="14286" x2="32836" y2="17293"/>
                        <a14:foregroundMark x1="29104" y1="15038" x2="13433" y2="30075"/>
                        <a14:foregroundMark x1="7463" y1="39098" x2="17164" y2="75940"/>
                        <a14:foregroundMark x1="29851" y1="87970" x2="78358" y2="75940"/>
                        <a14:foregroundMark x1="65490" y1="90381" x2="71642" y2="90977"/>
                        <a14:foregroundMark x1="32836" y1="87218" x2="53981" y2="89267"/>
                        <a14:foregroundMark x1="55823" y1="91815" x2="34328" y2="88722"/>
                        <a14:foregroundMark x1="80597" y1="27068" x2="90299" y2="69173"/>
                        <a14:foregroundMark x1="88806" y1="42105" x2="90299" y2="60150"/>
                        <a14:foregroundMark x1="91045" y1="40602" x2="91045" y2="65414"/>
                        <a14:foregroundMark x1="62687" y1="12782" x2="40299" y2="5263"/>
                        <a14:foregroundMark x1="30597" y1="87218" x2="58872" y2="96035"/>
                        <a14:foregroundMark x1="90299" y1="40602" x2="94776" y2="57143"/>
                        <a14:foregroundMark x1="7463" y1="39098" x2="4478" y2="57143"/>
                        <a14:foregroundMark x1="91791" y1="42857" x2="96269" y2="51880"/>
                        <a14:backgroundMark x1="61194" y1="99248" x2="61194" y2="99248"/>
                        <a14:backgroundMark x1="70896" y1="97744" x2="64179" y2="99248"/>
                        <a14:backgroundMark x1="64925" y1="98496" x2="61194" y2="992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20" y="692127"/>
            <a:ext cx="924786" cy="894637"/>
          </a:xfrm>
          <a:prstGeom prst="rect">
            <a:avLst/>
          </a:prstGeom>
          <a:noFill/>
        </p:spPr>
      </p:pic>
      <p:sp>
        <p:nvSpPr>
          <p:cNvPr id="8" name="TextBox 16">
            <a:extLst>
              <a:ext uri="{FF2B5EF4-FFF2-40B4-BE49-F238E27FC236}">
                <a16:creationId xmlns:a16="http://schemas.microsoft.com/office/drawing/2014/main" id="{FEC9E3D3-E561-E49A-0ACA-9C48FA2A1F03}"/>
              </a:ext>
            </a:extLst>
          </p:cNvPr>
          <p:cNvSpPr txBox="1"/>
          <p:nvPr/>
        </p:nvSpPr>
        <p:spPr>
          <a:xfrm>
            <a:off x="787720" y="2574125"/>
            <a:ext cx="6724672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Pokretanje</a:t>
            </a:r>
            <a:r>
              <a:rPr kumimoji="0" lang="en-US" sz="2800" b="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b="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skripte</a:t>
            </a:r>
            <a:endParaRPr kumimoji="0" lang="en-US" sz="2800" b="0" i="0" u="none" strike="noStrike" kern="1200" cap="none" spc="-78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BC29D0C7-AC48-CEA6-2B89-7DDF8C83C1CE}"/>
              </a:ext>
            </a:extLst>
          </p:cNvPr>
          <p:cNvSpPr txBox="1"/>
          <p:nvPr/>
        </p:nvSpPr>
        <p:spPr>
          <a:xfrm>
            <a:off x="787719" y="5501662"/>
            <a:ext cx="6724672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Pokretanje</a:t>
            </a:r>
            <a:r>
              <a:rPr kumimoji="0" lang="en-US" sz="2800" b="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pt-BR" sz="2800" b="0" i="1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sudo dmesg</a:t>
            </a:r>
            <a:endParaRPr kumimoji="0" lang="en-US" sz="2800" b="0" i="1" u="none" strike="noStrike" kern="1200" cap="none" spc="-78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et"/>
              <a:ea typeface="Garet"/>
              <a:cs typeface="Garet"/>
              <a:sym typeface="Gare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6E5344-31ED-9059-5875-642A66D833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719" y="3287137"/>
            <a:ext cx="15012825" cy="18563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8907BDC-F31C-1C3C-E5A7-DABF67EB23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229" y="6241638"/>
            <a:ext cx="10868797" cy="360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166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104900" y="2621180"/>
            <a:ext cx="4017831" cy="701294"/>
          </a:xfrm>
          <a:custGeom>
            <a:avLst/>
            <a:gdLst/>
            <a:ahLst/>
            <a:cxnLst/>
            <a:rect l="l" t="t" r="r" b="b"/>
            <a:pathLst>
              <a:path w="4017831" h="701294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6070360" y="8863664"/>
            <a:ext cx="1188940" cy="308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87"/>
              </a:lnSpc>
              <a:spcBef>
                <a:spcPct val="0"/>
              </a:spcBef>
            </a:pPr>
            <a:r>
              <a:rPr lang="en-US" sz="1777" spc="-81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014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90401" y="1603058"/>
            <a:ext cx="6904701" cy="1076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03"/>
              </a:lnSpc>
              <a:spcBef>
                <a:spcPct val="0"/>
              </a:spcBef>
            </a:pPr>
            <a:r>
              <a:rPr lang="en-US" sz="6217" spc="-285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Tehnički</a:t>
            </a:r>
            <a:r>
              <a:rPr lang="en-US" sz="6217" spc="-285" dirty="0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6217" spc="-285" dirty="0" err="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izazovi</a:t>
            </a:r>
            <a:endParaRPr lang="en-US" sz="6217" spc="-285" dirty="0">
              <a:solidFill>
                <a:srgbClr val="EBF5FE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875168" y="2527879"/>
            <a:ext cx="6535166" cy="1070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03"/>
              </a:lnSpc>
              <a:spcBef>
                <a:spcPct val="0"/>
              </a:spcBef>
            </a:pPr>
            <a:r>
              <a:rPr lang="en-US" sz="6217" b="1" spc="-285" dirty="0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i </a:t>
            </a:r>
            <a:r>
              <a:rPr lang="en-US" sz="6217" b="1" spc="-285" dirty="0" err="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rešenja</a:t>
            </a:r>
            <a:endParaRPr lang="en-US" sz="6217" b="1" spc="-285" dirty="0">
              <a:solidFill>
                <a:srgbClr val="EBF5FE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92269" y="3959537"/>
            <a:ext cx="8051480" cy="4739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Problem: </a:t>
            </a:r>
          </a:p>
          <a:p>
            <a:pPr>
              <a:spcBef>
                <a:spcPct val="0"/>
              </a:spcBef>
            </a:pP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Pad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sistema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u </a:t>
            </a: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initramfs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shell (</a:t>
            </a: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BusyBox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)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nakon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poslednje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instalacije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modifikovanog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kernela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>
              <a:spcBef>
                <a:spcPct val="0"/>
              </a:spcBef>
            </a:pP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Uzrok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</a:p>
          <a:p>
            <a:pPr>
              <a:spcBef>
                <a:spcPct val="0"/>
              </a:spcBef>
            </a:pP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Nedostatak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Initial RAM Disk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-a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drajverima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za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fajl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sistem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za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verziju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6.18.9.</a:t>
            </a:r>
          </a:p>
          <a:p>
            <a:pPr>
              <a:spcBef>
                <a:spcPct val="0"/>
              </a:spcBef>
            </a:pPr>
            <a:r>
              <a:rPr lang="en-US" sz="2800" b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Rešenje</a:t>
            </a:r>
            <a:r>
              <a:rPr lang="en-US" sz="2800" b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</a:p>
          <a:p>
            <a:pPr>
              <a:spcBef>
                <a:spcPct val="0"/>
              </a:spcBef>
            </a:pP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Pristup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sistemu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preko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generičkog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kernela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ručno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generisanje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initrd.img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slike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pomoću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update-</a:t>
            </a:r>
            <a:r>
              <a:rPr lang="en-US" sz="2800" i="1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initramfs</a:t>
            </a:r>
            <a:r>
              <a:rPr lang="en-US" sz="2800" i="1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alata i re-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konfiguracija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GRUB </a:t>
            </a:r>
            <a:r>
              <a:rPr lang="en-US" sz="2800" spc="-7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bootloadera</a:t>
            </a:r>
            <a:r>
              <a:rPr lang="en-US" sz="2800" spc="-7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8999F7D-24A0-E2F7-B240-7DB2DCBD0BFC}"/>
              </a:ext>
            </a:extLst>
          </p:cNvPr>
          <p:cNvPicPr>
            <a:picLocks/>
          </p:cNvPicPr>
          <p:nvPr/>
        </p:nvPicPr>
        <p:blipFill>
          <a:blip r:embed="rId4" cstate="print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008" b="96241" l="4478" r="96269">
                        <a14:foregroundMark x1="28358" y1="14286" x2="32836" y2="17293"/>
                        <a14:foregroundMark x1="29104" y1="15038" x2="13433" y2="30075"/>
                        <a14:foregroundMark x1="7463" y1="39098" x2="17164" y2="75940"/>
                        <a14:foregroundMark x1="29851" y1="87970" x2="78358" y2="75940"/>
                        <a14:foregroundMark x1="65490" y1="90381" x2="71642" y2="90977"/>
                        <a14:foregroundMark x1="32836" y1="87218" x2="53981" y2="89267"/>
                        <a14:foregroundMark x1="55823" y1="91815" x2="34328" y2="88722"/>
                        <a14:foregroundMark x1="80597" y1="27068" x2="90299" y2="69173"/>
                        <a14:foregroundMark x1="88806" y1="42105" x2="90299" y2="60150"/>
                        <a14:foregroundMark x1="91045" y1="40602" x2="91045" y2="65414"/>
                        <a14:foregroundMark x1="62687" y1="12782" x2="40299" y2="5263"/>
                        <a14:foregroundMark x1="30597" y1="87218" x2="58872" y2="96035"/>
                        <a14:foregroundMark x1="90299" y1="40602" x2="94776" y2="57143"/>
                        <a14:foregroundMark x1="7463" y1="39098" x2="4478" y2="57143"/>
                        <a14:foregroundMark x1="91791" y1="42857" x2="96269" y2="51880"/>
                        <a14:backgroundMark x1="61194" y1="99248" x2="61194" y2="99248"/>
                        <a14:backgroundMark x1="70896" y1="97744" x2="64179" y2="99248"/>
                        <a14:backgroundMark x1="64925" y1="98496" x2="61194" y2="992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20" y="692127"/>
            <a:ext cx="924786" cy="894637"/>
          </a:xfrm>
          <a:prstGeom prst="rect">
            <a:avLst/>
          </a:prstGeom>
          <a:noFill/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9830448-832F-DC98-D478-76E18369B7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1911" y="3959537"/>
            <a:ext cx="8301116" cy="46434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5C6FA9-899B-9E89-28B4-56A8BBDA7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DF7CD52-BEBD-C00E-F8F9-E6A92EC027D8}"/>
              </a:ext>
            </a:extLst>
          </p:cNvPr>
          <p:cNvSpPr/>
          <p:nvPr/>
        </p:nvSpPr>
        <p:spPr>
          <a:xfrm>
            <a:off x="16784291" y="901942"/>
            <a:ext cx="475009" cy="475009"/>
          </a:xfrm>
          <a:custGeom>
            <a:avLst/>
            <a:gdLst/>
            <a:ahLst/>
            <a:cxnLst/>
            <a:rect l="l" t="t" r="r" b="b"/>
            <a:pathLst>
              <a:path w="475009" h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E7E47A7-148D-E8B3-85A7-37C3ABEC54C6}"/>
              </a:ext>
            </a:extLst>
          </p:cNvPr>
          <p:cNvSpPr/>
          <p:nvPr/>
        </p:nvSpPr>
        <p:spPr>
          <a:xfrm>
            <a:off x="-1104900" y="2621180"/>
            <a:ext cx="4017831" cy="701294"/>
          </a:xfrm>
          <a:custGeom>
            <a:avLst/>
            <a:gdLst/>
            <a:ahLst/>
            <a:cxnLst/>
            <a:rect l="l" t="t" r="r" b="b"/>
            <a:pathLst>
              <a:path w="4017831" h="701294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B589EFC-844E-5CF5-92D9-B64CF53E1A06}"/>
              </a:ext>
            </a:extLst>
          </p:cNvPr>
          <p:cNvSpPr txBox="1"/>
          <p:nvPr/>
        </p:nvSpPr>
        <p:spPr>
          <a:xfrm>
            <a:off x="16070360" y="8863664"/>
            <a:ext cx="1188940" cy="308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248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77" b="0" i="0" u="none" strike="noStrike" kern="1200" cap="none" spc="-81" normalizeH="0" baseline="0" noProof="0" dirty="0">
                <a:ln>
                  <a:noFill/>
                </a:ln>
                <a:solidFill>
                  <a:srgbClr val="EBF5F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015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84B5A59-61D3-FB01-5FEC-065531F88234}"/>
              </a:ext>
            </a:extLst>
          </p:cNvPr>
          <p:cNvSpPr txBox="1"/>
          <p:nvPr/>
        </p:nvSpPr>
        <p:spPr>
          <a:xfrm>
            <a:off x="5876417" y="1866900"/>
            <a:ext cx="6535166" cy="1070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870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217" b="1" i="0" u="none" strike="noStrike" kern="1200" cap="none" spc="-285" normalizeH="0" baseline="0" noProof="0" dirty="0" err="1">
                <a:ln>
                  <a:noFill/>
                </a:ln>
                <a:solidFill>
                  <a:srgbClr val="EBF5FE"/>
                </a:solidFill>
                <a:effectLst/>
                <a:uLnTx/>
                <a:uFillTx/>
                <a:latin typeface="Garet Bold"/>
                <a:ea typeface="Garet Bold"/>
                <a:cs typeface="Garet Bold"/>
                <a:sym typeface="Garet Bold"/>
              </a:rPr>
              <a:t>Zaklju</a:t>
            </a:r>
            <a:r>
              <a:rPr kumimoji="0" lang="sr-Latn-RS" sz="6217" b="1" i="0" u="none" strike="noStrike" kern="1200" cap="none" spc="-285" normalizeH="0" baseline="0" noProof="0" dirty="0">
                <a:ln>
                  <a:noFill/>
                </a:ln>
                <a:solidFill>
                  <a:srgbClr val="EBF5FE"/>
                </a:solidFill>
                <a:effectLst/>
                <a:uLnTx/>
                <a:uFillTx/>
                <a:latin typeface="Garet Bold"/>
                <a:ea typeface="Garet Bold"/>
                <a:cs typeface="Garet Bold"/>
                <a:sym typeface="Garet Bold"/>
              </a:rPr>
              <a:t>čak</a:t>
            </a:r>
            <a:endParaRPr kumimoji="0" lang="en-US" sz="6217" b="1" i="0" u="none" strike="noStrike" kern="1200" cap="none" spc="-285" normalizeH="0" baseline="0" noProof="0" dirty="0">
              <a:ln>
                <a:noFill/>
              </a:ln>
              <a:solidFill>
                <a:srgbClr val="EBF5FE"/>
              </a:solidFill>
              <a:effectLst/>
              <a:uLnTx/>
              <a:uFillTx/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E4DA9A7-FBF8-C974-97DF-87F77C702985}"/>
              </a:ext>
            </a:extLst>
          </p:cNvPr>
          <p:cNvSpPr txBox="1"/>
          <p:nvPr/>
        </p:nvSpPr>
        <p:spPr>
          <a:xfrm>
            <a:off x="2679860" y="3576116"/>
            <a:ext cx="12928280" cy="56015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Uspešna</a:t>
            </a:r>
            <a:r>
              <a:rPr kumimoji="0" lang="en-US" sz="2800" b="1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b="1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integracija</a:t>
            </a:r>
            <a:r>
              <a:rPr kumimoji="0" lang="en-US" sz="2800" b="1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: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Implementiran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je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robustan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sistem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za monitoring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procesa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unutar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Linux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kernela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6.18.9, koji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pruža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dubok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uvid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u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korišćenje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sistemskih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resursa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.</a:t>
            </a:r>
            <a:endParaRPr kumimoji="0" lang="sr-Latn-RS" sz="2800" i="0" u="none" strike="noStrike" kern="1200" cap="none" spc="-78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et"/>
              <a:ea typeface="Garet"/>
              <a:cs typeface="Garet"/>
              <a:sym typeface="Garet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Dualni</a:t>
            </a:r>
            <a:r>
              <a:rPr kumimoji="0" lang="en-US" sz="2800" b="1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b="1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pristup</a:t>
            </a:r>
            <a:r>
              <a:rPr kumimoji="0" lang="en-US" sz="2800" b="1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(</a:t>
            </a:r>
            <a:r>
              <a:rPr kumimoji="0" lang="en-US" sz="2800" b="1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Syscall</a:t>
            </a:r>
            <a:r>
              <a:rPr kumimoji="0" lang="en-US" sz="2800" b="1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vs. LKM):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Kroz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projekat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je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dokazana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prednost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obe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metode</a:t>
            </a:r>
            <a:r>
              <a:rPr kumimoji="0" lang="sr-Latn-R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-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sistemski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poziv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kao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fiksni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deo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jezgra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i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modul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kao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fleksibilno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rešenje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za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dinamičko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proširenje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funkcionalnosti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.</a:t>
            </a:r>
            <a:endParaRPr kumimoji="0" lang="sr-Latn-RS" sz="2800" i="0" u="none" strike="noStrike" kern="1200" cap="none" spc="-78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et"/>
              <a:ea typeface="Garet"/>
              <a:cs typeface="Garet"/>
              <a:sym typeface="Garet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Preciznost</a:t>
            </a:r>
            <a:r>
              <a:rPr kumimoji="0" lang="en-US" sz="2800" b="1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b="1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podataka</a:t>
            </a:r>
            <a:r>
              <a:rPr kumimoji="0" lang="en-US" sz="2800" b="1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: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Upotrebom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1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inode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identifikacije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postignuta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je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maksimalna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preciznost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u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praćenju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,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nezavisno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od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imena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ili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putanje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fajla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,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dok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je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ekstrakcija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metapodataka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iz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1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task_struct</a:t>
            </a:r>
            <a:r>
              <a:rPr kumimoji="0" lang="en-US" sz="2800" i="1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pružila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kompletan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profil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procesa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(CPU, RAM,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vlasništvo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).</a:t>
            </a:r>
            <a:endParaRPr kumimoji="0" lang="sr-Latn-RS" sz="2800" i="0" u="none" strike="noStrike" kern="1200" cap="none" spc="-78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et"/>
              <a:ea typeface="Garet"/>
              <a:cs typeface="Garet"/>
              <a:sym typeface="Garet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Finalni</a:t>
            </a:r>
            <a:r>
              <a:rPr kumimoji="0" lang="en-US" sz="2800" b="1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b="1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ishod</a:t>
            </a:r>
            <a:r>
              <a:rPr kumimoji="0" lang="en-US" sz="2800" b="1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: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Projekat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predstavlja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zaokruženu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celinu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koja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povezuje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teorijsko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poznavanje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arhitekture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operativnih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sistema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sa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praktičnim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veštinama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kernel </a:t>
            </a:r>
            <a:r>
              <a:rPr kumimoji="0" lang="en-US" sz="2800" i="0" u="none" strike="noStrike" kern="1200" cap="none" spc="-78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programiranja</a:t>
            </a:r>
            <a:r>
              <a:rPr kumimoji="0" lang="en-US" sz="2800" i="0" u="none" strike="noStrike" kern="1200" cap="none" spc="-7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4D12DCB-6562-A2D1-F8D7-CA229F27815E}"/>
              </a:ext>
            </a:extLst>
          </p:cNvPr>
          <p:cNvPicPr>
            <a:picLocks/>
          </p:cNvPicPr>
          <p:nvPr/>
        </p:nvPicPr>
        <p:blipFill>
          <a:blip r:embed="rId4" cstate="print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008" b="96241" l="4478" r="96269">
                        <a14:foregroundMark x1="28358" y1="14286" x2="32836" y2="17293"/>
                        <a14:foregroundMark x1="29104" y1="15038" x2="13433" y2="30075"/>
                        <a14:foregroundMark x1="7463" y1="39098" x2="17164" y2="75940"/>
                        <a14:foregroundMark x1="29851" y1="87970" x2="78358" y2="75940"/>
                        <a14:foregroundMark x1="65490" y1="90381" x2="71642" y2="90977"/>
                        <a14:foregroundMark x1="32836" y1="87218" x2="53981" y2="89267"/>
                        <a14:foregroundMark x1="55823" y1="91815" x2="34328" y2="88722"/>
                        <a14:foregroundMark x1="80597" y1="27068" x2="90299" y2="69173"/>
                        <a14:foregroundMark x1="88806" y1="42105" x2="90299" y2="60150"/>
                        <a14:foregroundMark x1="91045" y1="40602" x2="91045" y2="65414"/>
                        <a14:foregroundMark x1="62687" y1="12782" x2="40299" y2="5263"/>
                        <a14:foregroundMark x1="30597" y1="87218" x2="58872" y2="96035"/>
                        <a14:foregroundMark x1="90299" y1="40602" x2="94776" y2="57143"/>
                        <a14:foregroundMark x1="7463" y1="39098" x2="4478" y2="57143"/>
                        <a14:foregroundMark x1="91791" y1="42857" x2="96269" y2="51880"/>
                        <a14:backgroundMark x1="61194" y1="99248" x2="61194" y2="99248"/>
                        <a14:backgroundMark x1="70896" y1="97744" x2="64179" y2="99248"/>
                        <a14:backgroundMark x1="64925" y1="98496" x2="61194" y2="992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20" y="692127"/>
            <a:ext cx="924786" cy="8946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48576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0407285">
            <a:off x="3958143" y="-42357"/>
            <a:ext cx="10371714" cy="1037171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10407285">
            <a:off x="5363810" y="1434956"/>
            <a:ext cx="7560380" cy="756038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326468" y="3317647"/>
            <a:ext cx="7690481" cy="3651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69"/>
              </a:lnSpc>
              <a:spcBef>
                <a:spcPct val="0"/>
              </a:spcBef>
            </a:pPr>
            <a:r>
              <a:rPr lang="sr-Latn-RS" sz="10335" b="1" spc="-475" dirty="0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Hvala na pažnji!</a:t>
            </a:r>
            <a:endParaRPr lang="en-US" sz="10335" b="1" spc="-475" dirty="0">
              <a:solidFill>
                <a:srgbClr val="EBF5FE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28F322-22AD-E4FF-9B1F-818BD324FF0E}"/>
              </a:ext>
            </a:extLst>
          </p:cNvPr>
          <p:cNvPicPr>
            <a:picLocks/>
          </p:cNvPicPr>
          <p:nvPr/>
        </p:nvPicPr>
        <p:blipFill>
          <a:blip r:embed="rId2" cstate="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008" b="96241" l="4478" r="96269">
                        <a14:foregroundMark x1="28358" y1="14286" x2="32836" y2="17293"/>
                        <a14:foregroundMark x1="29104" y1="15038" x2="13433" y2="30075"/>
                        <a14:foregroundMark x1="7463" y1="39098" x2="17164" y2="75940"/>
                        <a14:foregroundMark x1="29851" y1="87970" x2="78358" y2="75940"/>
                        <a14:foregroundMark x1="65490" y1="90381" x2="71642" y2="90977"/>
                        <a14:foregroundMark x1="32836" y1="87218" x2="53981" y2="89267"/>
                        <a14:foregroundMark x1="55823" y1="91815" x2="34328" y2="88722"/>
                        <a14:foregroundMark x1="80597" y1="27068" x2="90299" y2="69173"/>
                        <a14:foregroundMark x1="88806" y1="42105" x2="90299" y2="60150"/>
                        <a14:foregroundMark x1="91045" y1="40602" x2="91045" y2="65414"/>
                        <a14:foregroundMark x1="62687" y1="12782" x2="40299" y2="5263"/>
                        <a14:foregroundMark x1="30597" y1="87218" x2="58872" y2="96035"/>
                        <a14:foregroundMark x1="90299" y1="40602" x2="94776" y2="57143"/>
                        <a14:foregroundMark x1="7463" y1="39098" x2="4478" y2="57143"/>
                        <a14:foregroundMark x1="91791" y1="42857" x2="96269" y2="51880"/>
                        <a14:backgroundMark x1="61194" y1="99248" x2="61194" y2="99248"/>
                        <a14:backgroundMark x1="70896" y1="97744" x2="64179" y2="99248"/>
                        <a14:backgroundMark x1="64925" y1="98496" x2="61194" y2="992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20" y="692127"/>
            <a:ext cx="924786" cy="8946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</TotalTime>
  <Words>1250</Words>
  <Application>Microsoft Office PowerPoint</Application>
  <PresentationFormat>Custom</PresentationFormat>
  <Paragraphs>129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Garet</vt:lpstr>
      <vt:lpstr>Garet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Navy Gradient Futuristic Computer Science Presentation</dc:title>
  <cp:lastModifiedBy>Aleksandar DJordjevic</cp:lastModifiedBy>
  <cp:revision>10</cp:revision>
  <dcterms:created xsi:type="dcterms:W3CDTF">2006-08-16T00:00:00Z</dcterms:created>
  <dcterms:modified xsi:type="dcterms:W3CDTF">2026-07-21T19:27:34Z</dcterms:modified>
  <dc:identifier>DAHBydYRNlE</dc:identifier>
</cp:coreProperties>
</file>